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71" r:id="rId2"/>
    <p:sldId id="280" r:id="rId3"/>
    <p:sldId id="272" r:id="rId4"/>
    <p:sldId id="260" r:id="rId5"/>
    <p:sldId id="269" r:id="rId6"/>
    <p:sldId id="270" r:id="rId7"/>
    <p:sldId id="261" r:id="rId8"/>
    <p:sldId id="273" r:id="rId9"/>
    <p:sldId id="276" r:id="rId10"/>
    <p:sldId id="277" r:id="rId11"/>
    <p:sldId id="264" r:id="rId12"/>
    <p:sldId id="278" r:id="rId13"/>
    <p:sldId id="282" r:id="rId14"/>
    <p:sldId id="275" r:id="rId15"/>
    <p:sldId id="274" r:id="rId16"/>
    <p:sldId id="268" r:id="rId17"/>
    <p:sldId id="281"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8" d="100"/>
          <a:sy n="78" d="100"/>
        </p:scale>
        <p:origin x="-37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FC506EC-9665-7FBA-D8C8-47F3D6688F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xmlns="" id="{1C52E304-76E8-4980-8303-8DF0369713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100216-8312-42E8-BFB1-DBCA9D794911}" type="datetimeFigureOut">
              <a:rPr lang="en-IN" smtClean="0"/>
              <a:t>13-02-2023</a:t>
            </a:fld>
            <a:endParaRPr lang="en-IN"/>
          </a:p>
        </p:txBody>
      </p:sp>
      <p:sp>
        <p:nvSpPr>
          <p:cNvPr id="4" name="Footer Placeholder 3">
            <a:extLst>
              <a:ext uri="{FF2B5EF4-FFF2-40B4-BE49-F238E27FC236}">
                <a16:creationId xmlns:a16="http://schemas.microsoft.com/office/drawing/2014/main" xmlns="" id="{5B3F9663-7010-2167-2CD6-C6FCC7764D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B793A3B2-476E-80F9-ED31-4E6A933DFC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8A06F1-49CC-4868-A3A6-2EB49ECC3687}" type="slidenum">
              <a:rPr lang="en-IN" smtClean="0"/>
              <a:t>‹#›</a:t>
            </a:fld>
            <a:endParaRPr lang="en-IN"/>
          </a:p>
        </p:txBody>
      </p:sp>
    </p:spTree>
    <p:extLst>
      <p:ext uri="{BB962C8B-B14F-4D97-AF65-F5344CB8AC3E}">
        <p14:creationId xmlns:p14="http://schemas.microsoft.com/office/powerpoint/2010/main" val="7723818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61CD3B-EB78-47BC-B86E-1A7C6B21D3F2}" type="datetimeFigureOut">
              <a:rPr lang="en-IN" smtClean="0"/>
              <a:t>13-02-2023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AEE7D-1A9C-4082-83F2-FBB76492670F}" type="slidenum">
              <a:rPr lang="en-IN" smtClean="0"/>
              <a:t>‹#›</a:t>
            </a:fld>
            <a:endParaRPr lang="en-IN"/>
          </a:p>
        </p:txBody>
      </p:sp>
    </p:spTree>
    <p:extLst>
      <p:ext uri="{BB962C8B-B14F-4D97-AF65-F5344CB8AC3E}">
        <p14:creationId xmlns:p14="http://schemas.microsoft.com/office/powerpoint/2010/main" val="19387056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7C324F-97DC-F446-582C-CCDCA5E5D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1AE7B49-6912-26AC-B232-19AF5C4B2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E8377965-A90F-C89A-3A52-AFB88CB99DEB}"/>
              </a:ext>
            </a:extLst>
          </p:cNvPr>
          <p:cNvSpPr>
            <a:spLocks noGrp="1"/>
          </p:cNvSpPr>
          <p:nvPr>
            <p:ph type="dt" sz="half" idx="10"/>
          </p:nvPr>
        </p:nvSpPr>
        <p:spPr/>
        <p:txBody>
          <a:bodyPr/>
          <a:lstStyle/>
          <a:p>
            <a:fld id="{0B6AFE02-B661-4A9A-8382-07636B8D2E3D}"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CF9DD32B-FD81-CEB7-2A55-CC675869CE3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8A1FD6B7-219F-E055-26B9-93BA76EEDAAC}"/>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3636768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34E90A-1070-2406-1582-6CA0D1BCE7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C072140-A893-15FF-C175-D233E6AF27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8BB21DA-F81A-94C0-E325-78953449748E}"/>
              </a:ext>
            </a:extLst>
          </p:cNvPr>
          <p:cNvSpPr>
            <a:spLocks noGrp="1"/>
          </p:cNvSpPr>
          <p:nvPr>
            <p:ph type="dt" sz="half" idx="10"/>
          </p:nvPr>
        </p:nvSpPr>
        <p:spPr/>
        <p:txBody>
          <a:bodyPr/>
          <a:lstStyle/>
          <a:p>
            <a:fld id="{94A90A59-2CF8-44AF-86F4-85AC6E5AF0D9}"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9715C093-EB35-D807-9CC6-D01CFE6BBDD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FD9CC007-37D3-7786-D86D-733A120B8C49}"/>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4120124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EBEAE5-8B5A-9E36-7770-6E265FDC52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0DB72C8-5AFF-BD8A-1138-99C89E255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E06B1B2-9D5D-0211-156E-A0C967A5E510}"/>
              </a:ext>
            </a:extLst>
          </p:cNvPr>
          <p:cNvSpPr>
            <a:spLocks noGrp="1"/>
          </p:cNvSpPr>
          <p:nvPr>
            <p:ph type="dt" sz="half" idx="10"/>
          </p:nvPr>
        </p:nvSpPr>
        <p:spPr/>
        <p:txBody>
          <a:bodyPr/>
          <a:lstStyle/>
          <a:p>
            <a:fld id="{0CA3786C-70A1-4C53-916D-9C257EEE92D0}"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4F9C3006-97A9-BF0A-A6C7-C662528F468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1F036430-2FFB-5BFB-BA75-EA9C9B05C56D}"/>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2172108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68CC66-B4B0-CC53-70AD-312F432CD4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6442A62-D782-FC67-A922-11D97B9222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AC4AAA0-6DA6-980F-4062-3D9B65E85A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CFA6442D-562F-AFDB-4281-74E9642E1C39}"/>
              </a:ext>
            </a:extLst>
          </p:cNvPr>
          <p:cNvSpPr>
            <a:spLocks noGrp="1"/>
          </p:cNvSpPr>
          <p:nvPr>
            <p:ph type="dt" sz="half" idx="10"/>
          </p:nvPr>
        </p:nvSpPr>
        <p:spPr/>
        <p:txBody>
          <a:bodyPr/>
          <a:lstStyle/>
          <a:p>
            <a:fld id="{82FFDB44-0177-4E6A-B39E-95E96D60B3D4}" type="datetime4">
              <a:rPr lang="en-IN" smtClean="0"/>
              <a:t>13 February 2023</a:t>
            </a:fld>
            <a:endParaRPr lang="en-IN" dirty="0"/>
          </a:p>
        </p:txBody>
      </p:sp>
      <p:sp>
        <p:nvSpPr>
          <p:cNvPr id="6" name="Footer Placeholder 5">
            <a:extLst>
              <a:ext uri="{FF2B5EF4-FFF2-40B4-BE49-F238E27FC236}">
                <a16:creationId xmlns:a16="http://schemas.microsoft.com/office/drawing/2014/main" xmlns="" id="{130798E5-11A1-C1EA-8A6A-F66CFB11A0A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17FE0075-3F7B-9443-EC61-CFBE06E360BA}"/>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897037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04B594-1FD1-0257-0D56-B5360169CF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EBBE262-00D1-6BCD-C3D2-3B916BA80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0A18F52-4093-C947-C31F-27C1DF2BE6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A3CBFC1-A893-304D-99A2-FE0F5002A4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7053FC2-3026-5F5A-6E25-9500CBD4BC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0CE6D9EE-1465-BEB1-F357-E9C4FA538595}"/>
              </a:ext>
            </a:extLst>
          </p:cNvPr>
          <p:cNvSpPr>
            <a:spLocks noGrp="1"/>
          </p:cNvSpPr>
          <p:nvPr>
            <p:ph type="dt" sz="half" idx="10"/>
          </p:nvPr>
        </p:nvSpPr>
        <p:spPr/>
        <p:txBody>
          <a:bodyPr/>
          <a:lstStyle/>
          <a:p>
            <a:fld id="{6F78FEBF-7D3B-42BE-87B9-420C8E1393CD}" type="datetime4">
              <a:rPr lang="en-IN" smtClean="0"/>
              <a:t>13 February 2023</a:t>
            </a:fld>
            <a:endParaRPr lang="en-IN" dirty="0"/>
          </a:p>
        </p:txBody>
      </p:sp>
      <p:sp>
        <p:nvSpPr>
          <p:cNvPr id="8" name="Footer Placeholder 7">
            <a:extLst>
              <a:ext uri="{FF2B5EF4-FFF2-40B4-BE49-F238E27FC236}">
                <a16:creationId xmlns:a16="http://schemas.microsoft.com/office/drawing/2014/main" xmlns="" id="{B2DE9BB6-2C09-85A8-9877-099073BC41F2}"/>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AF23D5D4-7C0E-77B2-DD78-F64A1B44EF99}"/>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2228608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0E09BD-5E30-4373-3CF7-3688BD95BA1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8B9D4B9A-6EBC-2D63-493E-C52783B1AE46}"/>
              </a:ext>
            </a:extLst>
          </p:cNvPr>
          <p:cNvSpPr>
            <a:spLocks noGrp="1"/>
          </p:cNvSpPr>
          <p:nvPr>
            <p:ph type="dt" sz="half" idx="10"/>
          </p:nvPr>
        </p:nvSpPr>
        <p:spPr/>
        <p:txBody>
          <a:bodyPr/>
          <a:lstStyle/>
          <a:p>
            <a:fld id="{5CA568D1-72E2-4AE2-8F0D-3A590E23DFB1}" type="datetime4">
              <a:rPr lang="en-IN" smtClean="0"/>
              <a:t>13 February 2023</a:t>
            </a:fld>
            <a:endParaRPr lang="en-IN" dirty="0"/>
          </a:p>
        </p:txBody>
      </p:sp>
      <p:sp>
        <p:nvSpPr>
          <p:cNvPr id="4" name="Footer Placeholder 3">
            <a:extLst>
              <a:ext uri="{FF2B5EF4-FFF2-40B4-BE49-F238E27FC236}">
                <a16:creationId xmlns:a16="http://schemas.microsoft.com/office/drawing/2014/main" xmlns="" id="{077D8F98-6B61-63D5-176A-48555D9EFA8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CB18482F-BE4B-2BFD-29C6-92983AD2C667}"/>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1418207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970FA3A-B8AF-62E9-48C3-262D5B3726CE}"/>
              </a:ext>
            </a:extLst>
          </p:cNvPr>
          <p:cNvSpPr>
            <a:spLocks noGrp="1"/>
          </p:cNvSpPr>
          <p:nvPr>
            <p:ph type="dt" sz="half" idx="10"/>
          </p:nvPr>
        </p:nvSpPr>
        <p:spPr/>
        <p:txBody>
          <a:bodyPr/>
          <a:lstStyle/>
          <a:p>
            <a:fld id="{4DA97546-9FC5-4B1D-9DCD-4E306089AEDF}" type="datetime4">
              <a:rPr lang="en-IN" smtClean="0"/>
              <a:t>13 February 2023</a:t>
            </a:fld>
            <a:endParaRPr lang="en-IN" dirty="0"/>
          </a:p>
        </p:txBody>
      </p:sp>
      <p:sp>
        <p:nvSpPr>
          <p:cNvPr id="3" name="Footer Placeholder 2">
            <a:extLst>
              <a:ext uri="{FF2B5EF4-FFF2-40B4-BE49-F238E27FC236}">
                <a16:creationId xmlns:a16="http://schemas.microsoft.com/office/drawing/2014/main" xmlns="" id="{65A8B740-D1BE-0D48-48A6-5A0C9088A634}"/>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D297F584-D4BD-03FF-9A38-C07595257A90}"/>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244718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0C234F-E39F-8CD6-06F2-19E8E7D21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8E583A9-2CFB-0FBE-BECF-30C5DFDF37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FB445D5-21EC-FD15-3686-6525388E2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D81FC5B-7CB2-342A-E604-FC7C6E2949CA}"/>
              </a:ext>
            </a:extLst>
          </p:cNvPr>
          <p:cNvSpPr>
            <a:spLocks noGrp="1"/>
          </p:cNvSpPr>
          <p:nvPr>
            <p:ph type="dt" sz="half" idx="10"/>
          </p:nvPr>
        </p:nvSpPr>
        <p:spPr/>
        <p:txBody>
          <a:bodyPr/>
          <a:lstStyle/>
          <a:p>
            <a:fld id="{41B01CCD-D9A3-4B55-801D-611C2DBCDD0A}" type="datetime4">
              <a:rPr lang="en-IN" smtClean="0"/>
              <a:t>13 February 2023</a:t>
            </a:fld>
            <a:endParaRPr lang="en-IN" dirty="0"/>
          </a:p>
        </p:txBody>
      </p:sp>
      <p:sp>
        <p:nvSpPr>
          <p:cNvPr id="6" name="Footer Placeholder 5">
            <a:extLst>
              <a:ext uri="{FF2B5EF4-FFF2-40B4-BE49-F238E27FC236}">
                <a16:creationId xmlns:a16="http://schemas.microsoft.com/office/drawing/2014/main" xmlns="" id="{02276B5C-D316-66A5-7382-7124D1BFA40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ADE76438-41D5-C0B9-B6F9-179B16FDD0B0}"/>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67785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9262A8-D36B-3FE6-A325-879A00F89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69E36E5-2569-7673-6427-45DAC1C6AA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dirty="0"/>
          </a:p>
        </p:txBody>
      </p:sp>
      <p:sp>
        <p:nvSpPr>
          <p:cNvPr id="4" name="Text Placeholder 3">
            <a:extLst>
              <a:ext uri="{FF2B5EF4-FFF2-40B4-BE49-F238E27FC236}">
                <a16:creationId xmlns:a16="http://schemas.microsoft.com/office/drawing/2014/main" xmlns="" id="{1B14BE84-A8C6-65BD-C8C7-F957C4B2FA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C95653F-0A2A-246F-4BD1-5CA5779B17DD}"/>
              </a:ext>
            </a:extLst>
          </p:cNvPr>
          <p:cNvSpPr>
            <a:spLocks noGrp="1"/>
          </p:cNvSpPr>
          <p:nvPr>
            <p:ph type="dt" sz="half" idx="10"/>
          </p:nvPr>
        </p:nvSpPr>
        <p:spPr/>
        <p:txBody>
          <a:bodyPr/>
          <a:lstStyle/>
          <a:p>
            <a:fld id="{FD2BFFA4-9548-4187-AA3F-CA995711A3C9}" type="datetime4">
              <a:rPr lang="en-IN" smtClean="0"/>
              <a:t>13 February 2023</a:t>
            </a:fld>
            <a:endParaRPr lang="en-IN" dirty="0"/>
          </a:p>
        </p:txBody>
      </p:sp>
      <p:sp>
        <p:nvSpPr>
          <p:cNvPr id="6" name="Footer Placeholder 5">
            <a:extLst>
              <a:ext uri="{FF2B5EF4-FFF2-40B4-BE49-F238E27FC236}">
                <a16:creationId xmlns:a16="http://schemas.microsoft.com/office/drawing/2014/main" xmlns="" id="{603FEC98-3D4D-46F6-A085-BE0F1B66C68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63389592-216E-FA0B-A8BE-FC9DF8706338}"/>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2957659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7B9D9D-1FD9-40DC-5BFB-5F82F9CCAB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3471AE3-4E4B-C708-5D6F-62C5C903CB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37D4449-72B8-F23E-D3AC-20AC509848A9}"/>
              </a:ext>
            </a:extLst>
          </p:cNvPr>
          <p:cNvSpPr>
            <a:spLocks noGrp="1"/>
          </p:cNvSpPr>
          <p:nvPr>
            <p:ph type="dt" sz="half" idx="10"/>
          </p:nvPr>
        </p:nvSpPr>
        <p:spPr/>
        <p:txBody>
          <a:bodyPr/>
          <a:lstStyle/>
          <a:p>
            <a:fld id="{04A15E52-41FA-409B-8907-8E881F8D41A9}"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FFF751D5-AF37-13E3-5425-8466413160A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611CBA46-AAD0-4DEE-9D98-D1772C4AF6C6}"/>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1513911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15C96C7-32D7-9FC0-AD9C-0A806532B7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89F8D1D-EB77-4981-9B55-8990B2C60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107FBDC-50FD-14F8-1688-16E000E5132C}"/>
              </a:ext>
            </a:extLst>
          </p:cNvPr>
          <p:cNvSpPr>
            <a:spLocks noGrp="1"/>
          </p:cNvSpPr>
          <p:nvPr>
            <p:ph type="dt" sz="half" idx="10"/>
          </p:nvPr>
        </p:nvSpPr>
        <p:spPr/>
        <p:txBody>
          <a:bodyPr/>
          <a:lstStyle/>
          <a:p>
            <a:fld id="{5452C3B2-39EA-4103-8BAF-CF022DB01870}"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D802EB70-4A54-4606-A809-DBA7E623374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BE016CB9-544D-0FE9-491A-40545C322590}"/>
              </a:ext>
            </a:extLst>
          </p:cNvPr>
          <p:cNvSpPr>
            <a:spLocks noGrp="1"/>
          </p:cNvSpPr>
          <p:nvPr>
            <p:ph type="sldNum" sz="quarter" idx="12"/>
          </p:nvPr>
        </p:nvSpPr>
        <p:spPr/>
        <p:txBody>
          <a:bodyPr/>
          <a:lstStyle/>
          <a:p>
            <a:fld id="{B2E42496-0DFE-461C-AEF9-E32CAB4F9D3D}" type="slidenum">
              <a:rPr lang="en-IN" smtClean="0"/>
              <a:t>‹#›</a:t>
            </a:fld>
            <a:endParaRPr lang="en-IN" dirty="0"/>
          </a:p>
        </p:txBody>
      </p:sp>
    </p:spTree>
    <p:extLst>
      <p:ext uri="{BB962C8B-B14F-4D97-AF65-F5344CB8AC3E}">
        <p14:creationId xmlns:p14="http://schemas.microsoft.com/office/powerpoint/2010/main" val="175984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B164F3E-BCB7-2F03-9B0C-1B99F2FDBF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DDAA2A3-8CBE-4DD9-7FB1-C73157E7A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94A9AB0-EC20-CCB2-8AD5-B86B16536B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7DFBA7-88E9-4346-8247-72428FC62EA8}" type="datetime4">
              <a:rPr lang="en-IN" smtClean="0"/>
              <a:t>13 February 2023</a:t>
            </a:fld>
            <a:endParaRPr lang="en-IN" dirty="0"/>
          </a:p>
        </p:txBody>
      </p:sp>
      <p:sp>
        <p:nvSpPr>
          <p:cNvPr id="5" name="Footer Placeholder 4">
            <a:extLst>
              <a:ext uri="{FF2B5EF4-FFF2-40B4-BE49-F238E27FC236}">
                <a16:creationId xmlns:a16="http://schemas.microsoft.com/office/drawing/2014/main" xmlns="" id="{DEAEA49E-98FD-7FBA-EF57-DEE9B78E3F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0705A675-1B03-667B-4920-EFC1CA5E6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E42496-0DFE-461C-AEF9-E32CAB4F9D3D}" type="slidenum">
              <a:rPr lang="en-IN" smtClean="0"/>
              <a:t>‹#›</a:t>
            </a:fld>
            <a:endParaRPr lang="en-IN" dirty="0"/>
          </a:p>
        </p:txBody>
      </p:sp>
    </p:spTree>
    <p:extLst>
      <p:ext uri="{BB962C8B-B14F-4D97-AF65-F5344CB8AC3E}">
        <p14:creationId xmlns:p14="http://schemas.microsoft.com/office/powerpoint/2010/main" val="3261594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 Id="rId5" Type="http://schemas.openxmlformats.org/officeDocument/2006/relationships/image" Target="../media/image3.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886B67-436A-6C24-B7BF-BD04AAD646B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Index</a:t>
            </a:r>
            <a:r>
              <a:rPr lang="en-IN" dirty="0"/>
              <a:t> </a:t>
            </a:r>
          </a:p>
        </p:txBody>
      </p:sp>
      <p:sp>
        <p:nvSpPr>
          <p:cNvPr id="3" name="Content Placeholder 2">
            <a:extLst>
              <a:ext uri="{FF2B5EF4-FFF2-40B4-BE49-F238E27FC236}">
                <a16:creationId xmlns:a16="http://schemas.microsoft.com/office/drawing/2014/main" xmlns="" id="{524C8F4C-47CC-0CB6-5FE4-FE5568EB7CE8}"/>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Literature review</a:t>
            </a:r>
          </a:p>
          <a:p>
            <a:r>
              <a:rPr lang="en-IN" dirty="0">
                <a:latin typeface="Times New Roman" panose="02020603050405020304" pitchFamily="18" charset="0"/>
                <a:cs typeface="Times New Roman" panose="02020603050405020304" pitchFamily="18" charset="0"/>
              </a:rPr>
              <a:t>Problem statements </a:t>
            </a:r>
          </a:p>
          <a:p>
            <a:r>
              <a:rPr lang="en-IN" dirty="0">
                <a:latin typeface="Times New Roman" panose="02020603050405020304" pitchFamily="18" charset="0"/>
                <a:cs typeface="Times New Roman" panose="02020603050405020304" pitchFamily="18" charset="0"/>
              </a:rPr>
              <a:t>Objectives</a:t>
            </a:r>
          </a:p>
          <a:p>
            <a:r>
              <a:rPr lang="en-IN" dirty="0">
                <a:latin typeface="Times New Roman" panose="02020603050405020304" pitchFamily="18" charset="0"/>
                <a:cs typeface="Times New Roman" panose="02020603050405020304" pitchFamily="18" charset="0"/>
              </a:rPr>
              <a:t>Novelty</a:t>
            </a:r>
          </a:p>
          <a:p>
            <a:r>
              <a:rPr lang="en-IN" dirty="0">
                <a:latin typeface="Times New Roman" panose="02020603050405020304" pitchFamily="18" charset="0"/>
                <a:cs typeface="Times New Roman" panose="02020603050405020304" pitchFamily="18" charset="0"/>
              </a:rPr>
              <a:t>System/Architecture diagram</a:t>
            </a:r>
          </a:p>
          <a:p>
            <a:r>
              <a:rPr lang="en-IN" dirty="0">
                <a:latin typeface="Times New Roman" panose="02020603050405020304" pitchFamily="18" charset="0"/>
                <a:cs typeface="Times New Roman" panose="02020603050405020304" pitchFamily="18" charset="0"/>
              </a:rPr>
              <a:t>Methodology</a:t>
            </a:r>
          </a:p>
          <a:p>
            <a:endParaRPr lang="en-IN" dirty="0"/>
          </a:p>
          <a:p>
            <a:endParaRPr lang="en-IN" dirty="0"/>
          </a:p>
        </p:txBody>
      </p:sp>
      <p:sp>
        <p:nvSpPr>
          <p:cNvPr id="4" name="Slide Number Placeholder 3">
            <a:extLst>
              <a:ext uri="{FF2B5EF4-FFF2-40B4-BE49-F238E27FC236}">
                <a16:creationId xmlns:a16="http://schemas.microsoft.com/office/drawing/2014/main" xmlns="" id="{C75E4A95-1941-F4E9-1759-0E9B9E27CD26}"/>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1</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376BA5EB-2603-7E04-1E7F-281F3B03592B}"/>
              </a:ext>
            </a:extLst>
          </p:cNvPr>
          <p:cNvPicPr>
            <a:picLocks noChangeAspect="1"/>
          </p:cNvPicPr>
          <p:nvPr/>
        </p:nvPicPr>
        <p:blipFill>
          <a:blip r:embed="rId3"/>
          <a:stretch>
            <a:fillRect/>
          </a:stretch>
        </p:blipFill>
        <p:spPr>
          <a:xfrm>
            <a:off x="9974510" y="136525"/>
            <a:ext cx="2217490" cy="809084"/>
          </a:xfrm>
          <a:prstGeom prst="rect">
            <a:avLst/>
          </a:prstGeom>
        </p:spPr>
      </p:pic>
      <p:sp>
        <p:nvSpPr>
          <p:cNvPr id="9" name="Date Placeholder 8">
            <a:extLst>
              <a:ext uri="{FF2B5EF4-FFF2-40B4-BE49-F238E27FC236}">
                <a16:creationId xmlns:a16="http://schemas.microsoft.com/office/drawing/2014/main" xmlns="" id="{F74C3083-2B5F-198C-453C-3CEE3641EA40}"/>
              </a:ext>
            </a:extLst>
          </p:cNvPr>
          <p:cNvSpPr>
            <a:spLocks noGrp="1"/>
          </p:cNvSpPr>
          <p:nvPr>
            <p:ph type="dt" sz="half" idx="10"/>
          </p:nvPr>
        </p:nvSpPr>
        <p:spPr/>
        <p:txBody>
          <a:bodyPr/>
          <a:lstStyle/>
          <a:p>
            <a:fld id="{191E831F-6E63-4F3F-A600-F0783AD87080}" type="datetime4">
              <a:rPr lang="en-IN" sz="1800">
                <a:solidFill>
                  <a:schemeClr val="tx1"/>
                </a:solidFill>
                <a:latin typeface="Times New Roman" panose="02020603050405020304" pitchFamily="18" charset="0"/>
                <a:cs typeface="Times New Roman" panose="02020603050405020304" pitchFamily="18" charset="0"/>
              </a:rPr>
              <a:p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3674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886B67-436A-6C24-B7BF-BD04AAD646B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Index</a:t>
            </a:r>
            <a:r>
              <a:rPr lang="en-IN" dirty="0"/>
              <a:t> </a:t>
            </a:r>
          </a:p>
        </p:txBody>
      </p:sp>
      <p:sp>
        <p:nvSpPr>
          <p:cNvPr id="3" name="Content Placeholder 2">
            <a:extLst>
              <a:ext uri="{FF2B5EF4-FFF2-40B4-BE49-F238E27FC236}">
                <a16:creationId xmlns:a16="http://schemas.microsoft.com/office/drawing/2014/main" xmlns="" id="{524C8F4C-47CC-0CB6-5FE4-FE5568EB7CE8}"/>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Requirements with Proposed budget</a:t>
            </a:r>
          </a:p>
          <a:p>
            <a:r>
              <a:rPr lang="en-IN" dirty="0">
                <a:latin typeface="Times New Roman" panose="02020603050405020304" pitchFamily="18" charset="0"/>
                <a:cs typeface="Times New Roman" panose="02020603050405020304" pitchFamily="18" charset="0"/>
              </a:rPr>
              <a:t>Research progress</a:t>
            </a:r>
          </a:p>
          <a:p>
            <a:r>
              <a:rPr lang="en-IN" dirty="0">
                <a:latin typeface="Times New Roman" panose="02020603050405020304" pitchFamily="18" charset="0"/>
                <a:cs typeface="Times New Roman" panose="02020603050405020304" pitchFamily="18" charset="0"/>
              </a:rPr>
              <a:t>Work plan</a:t>
            </a:r>
          </a:p>
          <a:p>
            <a:r>
              <a:rPr lang="en-IN" dirty="0">
                <a:latin typeface="Times New Roman" panose="02020603050405020304" pitchFamily="18" charset="0"/>
                <a:cs typeface="Times New Roman" panose="02020603050405020304" pitchFamily="18" charset="0"/>
              </a:rPr>
              <a:t>Application</a:t>
            </a:r>
          </a:p>
          <a:p>
            <a:r>
              <a:rPr lang="en-IN" dirty="0">
                <a:latin typeface="Times New Roman" panose="02020603050405020304" pitchFamily="18" charset="0"/>
                <a:cs typeface="Times New Roman" panose="02020603050405020304" pitchFamily="18" charset="0"/>
              </a:rPr>
              <a:t>Future work</a:t>
            </a:r>
          </a:p>
          <a:p>
            <a:r>
              <a:rPr lang="en-IN" dirty="0">
                <a:latin typeface="Times New Roman" panose="02020603050405020304" pitchFamily="18" charset="0"/>
                <a:cs typeface="Times New Roman" panose="02020603050405020304" pitchFamily="18" charset="0"/>
              </a:rPr>
              <a:t>References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75E4A95-1941-F4E9-1759-0E9B9E27CD26}"/>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2</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376BA5EB-2603-7E04-1E7F-281F3B03592B}"/>
              </a:ext>
            </a:extLst>
          </p:cNvPr>
          <p:cNvPicPr>
            <a:picLocks noChangeAspect="1"/>
          </p:cNvPicPr>
          <p:nvPr/>
        </p:nvPicPr>
        <p:blipFill>
          <a:blip r:embed="rId3"/>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C70C9360-33CD-4E23-09E5-5B5BF06629A6}"/>
              </a:ext>
            </a:extLst>
          </p:cNvPr>
          <p:cNvSpPr>
            <a:spLocks noGrp="1"/>
          </p:cNvSpPr>
          <p:nvPr>
            <p:ph type="dt" sz="half" idx="10"/>
          </p:nvPr>
        </p:nvSpPr>
        <p:spPr/>
        <p:txBody>
          <a:bodyPr/>
          <a:lstStyle/>
          <a:p>
            <a:fld id="{3FD25587-B2C4-4452-8541-39016B51EF0E}"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402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B5292-FA2E-4FD6-2991-64D62132551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r>
              <a:rPr lang="en-IN" dirty="0"/>
              <a:t> </a:t>
            </a:r>
          </a:p>
        </p:txBody>
      </p:sp>
      <p:sp>
        <p:nvSpPr>
          <p:cNvPr id="3" name="Content Placeholder 2">
            <a:extLst>
              <a:ext uri="{FF2B5EF4-FFF2-40B4-BE49-F238E27FC236}">
                <a16:creationId xmlns:a16="http://schemas.microsoft.com/office/drawing/2014/main" xmlns="" id="{36FF7577-A318-1AAB-2095-BD1E639A2DC0}"/>
              </a:ext>
            </a:extLst>
          </p:cNvPr>
          <p:cNvSpPr>
            <a:spLocks noGrp="1"/>
          </p:cNvSpPr>
          <p:nvPr>
            <p:ph idx="1"/>
          </p:nvPr>
        </p:nvSpPr>
        <p:spPr/>
        <p:txBody>
          <a:bodyPr>
            <a:normAutofit/>
          </a:bodyPr>
          <a:lstStyle/>
          <a:p>
            <a:pPr marL="285750" indent="-285750" algn="just"/>
            <a:r>
              <a:rPr lang="en-IN" dirty="0">
                <a:latin typeface="Times New Roman" panose="02020603050405020304" pitchFamily="18" charset="0"/>
                <a:cs typeface="Times New Roman" panose="02020603050405020304" pitchFamily="18" charset="0"/>
              </a:rPr>
              <a:t>In this modern era, Technology has helped in solving many of the day-to-day problems in real life.  </a:t>
            </a:r>
          </a:p>
          <a:p>
            <a:pPr marL="285750" indent="-285750" algn="just"/>
            <a:r>
              <a:rPr lang="en-IN" dirty="0">
                <a:latin typeface="Times New Roman" panose="02020603050405020304" pitchFamily="18" charset="0"/>
                <a:cs typeface="Times New Roman" panose="02020603050405020304" pitchFamily="18" charset="0"/>
              </a:rPr>
              <a:t>At present, the existing systems utilize hardware solutions that are not affordable and equipment failure could incur further costs.</a:t>
            </a:r>
          </a:p>
          <a:p>
            <a:pPr marL="285750" indent="-285750" algn="just"/>
            <a:r>
              <a:rPr lang="en-IN" dirty="0">
                <a:latin typeface="Times New Roman" panose="02020603050405020304" pitchFamily="18" charset="0"/>
                <a:cs typeface="Times New Roman" panose="02020603050405020304" pitchFamily="18" charset="0"/>
              </a:rPr>
              <a:t>With our proposed solution the integration of information and communication technology will increase in engaging and motivating the learning ability.</a:t>
            </a:r>
          </a:p>
        </p:txBody>
      </p:sp>
      <p:sp>
        <p:nvSpPr>
          <p:cNvPr id="4" name="Slide Number Placeholder 3">
            <a:extLst>
              <a:ext uri="{FF2B5EF4-FFF2-40B4-BE49-F238E27FC236}">
                <a16:creationId xmlns:a16="http://schemas.microsoft.com/office/drawing/2014/main" xmlns="" id="{7CC9F37C-1466-2473-6B23-2763625F5ED3}"/>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3</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9D13FF99-751B-2E0B-41ED-5D23B2C4E6EE}"/>
              </a:ext>
            </a:extLst>
          </p:cNvPr>
          <p:cNvPicPr>
            <a:picLocks noChangeAspect="1"/>
          </p:cNvPicPr>
          <p:nvPr/>
        </p:nvPicPr>
        <p:blipFill>
          <a:blip r:embed="rId3"/>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AE4DB06F-A8FD-61FD-6FD3-0C197D4433EA}"/>
              </a:ext>
            </a:extLst>
          </p:cNvPr>
          <p:cNvSpPr>
            <a:spLocks noGrp="1"/>
          </p:cNvSpPr>
          <p:nvPr>
            <p:ph type="dt" sz="half" idx="10"/>
          </p:nvPr>
        </p:nvSpPr>
        <p:spPr/>
        <p:txBody>
          <a:bodyPr/>
          <a:lstStyle/>
          <a:p>
            <a:fld id="{571BE94D-AE4D-48CC-A90E-61E85545E5F7}"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9345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010" y="92075"/>
            <a:ext cx="10515600" cy="1325563"/>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2177868823"/>
              </p:ext>
            </p:extLst>
          </p:nvPr>
        </p:nvGraphicFramePr>
        <p:xfrm>
          <a:off x="155010" y="1417638"/>
          <a:ext cx="11881979" cy="4799680"/>
        </p:xfrm>
        <a:graphic>
          <a:graphicData uri="http://schemas.openxmlformats.org/drawingml/2006/table">
            <a:tbl>
              <a:tblPr firstRow="1" bandRow="1">
                <a:tableStyleId>{68D230F3-CF80-4859-8CE7-A43EE81993B5}</a:tableStyleId>
              </a:tblPr>
              <a:tblGrid>
                <a:gridCol w="2160899">
                  <a:extLst>
                    <a:ext uri="{9D8B030D-6E8A-4147-A177-3AD203B41FA5}">
                      <a16:colId xmlns:a16="http://schemas.microsoft.com/office/drawing/2014/main" xmlns="" val="20000"/>
                    </a:ext>
                  </a:extLst>
                </a:gridCol>
                <a:gridCol w="2952328">
                  <a:extLst>
                    <a:ext uri="{9D8B030D-6E8A-4147-A177-3AD203B41FA5}">
                      <a16:colId xmlns:a16="http://schemas.microsoft.com/office/drawing/2014/main" xmlns="" val="20001"/>
                    </a:ext>
                  </a:extLst>
                </a:gridCol>
                <a:gridCol w="2808312">
                  <a:extLst>
                    <a:ext uri="{9D8B030D-6E8A-4147-A177-3AD203B41FA5}">
                      <a16:colId xmlns:a16="http://schemas.microsoft.com/office/drawing/2014/main" xmlns="" val="20002"/>
                    </a:ext>
                  </a:extLst>
                </a:gridCol>
                <a:gridCol w="3960440">
                  <a:extLst>
                    <a:ext uri="{9D8B030D-6E8A-4147-A177-3AD203B41FA5}">
                      <a16:colId xmlns:a16="http://schemas.microsoft.com/office/drawing/2014/main" xmlns="" val="20003"/>
                    </a:ext>
                  </a:extLst>
                </a:gridCol>
              </a:tblGrid>
              <a:tr h="328614">
                <a:tc>
                  <a:txBody>
                    <a:bodyPr/>
                    <a:lstStyle/>
                    <a:p>
                      <a:pPr algn="just"/>
                      <a:r>
                        <a:rPr lang="en-US" sz="1200" b="1" u="none" dirty="0">
                          <a:solidFill>
                            <a:schemeClr val="tx1"/>
                          </a:solidFill>
                          <a:latin typeface="Times New Roman" panose="02020603050405020304" pitchFamily="18" charset="0"/>
                          <a:cs typeface="Times New Roman" panose="02020603050405020304" pitchFamily="18" charset="0"/>
                        </a:rPr>
                        <a:t>AUTHORS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200" b="1" u="none" dirty="0">
                          <a:solidFill>
                            <a:schemeClr val="tx1"/>
                          </a:solidFill>
                          <a:latin typeface="Times New Roman" pitchFamily="18" charset="0"/>
                          <a:cs typeface="Times New Roman" pitchFamily="18" charset="0"/>
                        </a:rPr>
                        <a:t>PAPER &amp; JOURNALS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200" b="1" u="none" dirty="0">
                          <a:solidFill>
                            <a:schemeClr val="tx1"/>
                          </a:solidFill>
                          <a:latin typeface="Times New Roman" pitchFamily="18" charset="0"/>
                          <a:cs typeface="Times New Roman" pitchFamily="18" charset="0"/>
                        </a:rPr>
                        <a:t>CONTRIBUTION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200" b="1" u="none" dirty="0">
                          <a:solidFill>
                            <a:schemeClr val="tx1"/>
                          </a:solidFill>
                          <a:latin typeface="Times New Roman" pitchFamily="18" charset="0"/>
                          <a:cs typeface="Times New Roman" pitchFamily="18" charset="0"/>
                        </a:rPr>
                        <a:t>INFERENCE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1404000">
                <a:tc>
                  <a:txBody>
                    <a:bodyPr/>
                    <a:lstStyle/>
                    <a:p>
                      <a:pPr algn="just"/>
                      <a:r>
                        <a:rPr lang="en-IN" sz="1200" b="0" u="none" strike="noStrike" kern="1200" baseline="0" dirty="0">
                          <a:solidFill>
                            <a:schemeClr val="tx1"/>
                          </a:solidFill>
                          <a:latin typeface="Times New Roman" panose="02020603050405020304" pitchFamily="18" charset="0"/>
                          <a:cs typeface="Times New Roman" panose="02020603050405020304" pitchFamily="18" charset="0"/>
                        </a:rPr>
                        <a:t>Mohammad Mahmudul Alama, </a:t>
                      </a:r>
                    </a:p>
                    <a:p>
                      <a:pPr algn="just"/>
                      <a:r>
                        <a:rPr lang="en-IN" sz="1200" b="0" u="none" strike="noStrike" kern="1200" baseline="0" dirty="0">
                          <a:solidFill>
                            <a:schemeClr val="tx1"/>
                          </a:solidFill>
                          <a:latin typeface="Times New Roman" panose="02020603050405020304" pitchFamily="18" charset="0"/>
                          <a:cs typeface="Times New Roman" panose="02020603050405020304" pitchFamily="18" charset="0"/>
                        </a:rPr>
                        <a:t>Mohammad Tariqul Islamb, </a:t>
                      </a:r>
                    </a:p>
                    <a:p>
                      <a:pPr algn="just"/>
                      <a:r>
                        <a:rPr lang="en-IN" sz="1200" b="0" u="none" strike="noStrike" kern="1200" baseline="0" dirty="0">
                          <a:solidFill>
                            <a:schemeClr val="tx1"/>
                          </a:solidFill>
                          <a:latin typeface="Times New Roman" panose="02020603050405020304" pitchFamily="18" charset="0"/>
                          <a:cs typeface="Times New Roman" panose="02020603050405020304" pitchFamily="18" charset="0"/>
                        </a:rPr>
                        <a:t>S. M. Mahbubur Rahmanc</a:t>
                      </a:r>
                      <a:endParaRPr lang="en-IN" sz="1200" b="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200" b="0" kern="1200" dirty="0">
                          <a:solidFill>
                            <a:schemeClr val="tx1"/>
                          </a:solidFill>
                          <a:effectLst/>
                          <a:latin typeface="Times New Roman" panose="02020603050405020304" pitchFamily="18" charset="0"/>
                          <a:cs typeface="Times New Roman" panose="02020603050405020304" pitchFamily="18" charset="0"/>
                        </a:rPr>
                        <a:t>Unified learning approach for egocentric </a:t>
                      </a:r>
                    </a:p>
                    <a:p>
                      <a:pPr algn="just"/>
                      <a:r>
                        <a:rPr lang="en-IN" sz="1200" b="0" kern="1200" dirty="0">
                          <a:solidFill>
                            <a:schemeClr val="tx1"/>
                          </a:solidFill>
                          <a:effectLst/>
                          <a:latin typeface="Times New Roman" panose="02020603050405020304" pitchFamily="18" charset="0"/>
                          <a:cs typeface="Times New Roman" panose="02020603050405020304" pitchFamily="18" charset="0"/>
                        </a:rPr>
                        <a:t>hand gesture recognition and fingertip </a:t>
                      </a:r>
                    </a:p>
                    <a:p>
                      <a:pPr algn="just"/>
                      <a:r>
                        <a:rPr lang="en-IN" sz="1200" b="0" kern="1200" dirty="0">
                          <a:solidFill>
                            <a:schemeClr val="tx1"/>
                          </a:solidFill>
                          <a:effectLst/>
                          <a:latin typeface="Times New Roman" panose="02020603050405020304" pitchFamily="18" charset="0"/>
                          <a:cs typeface="Times New Roman" panose="02020603050405020304" pitchFamily="18" charset="0"/>
                        </a:rPr>
                        <a:t>detection.“ Pattern Recognition 121 (2022)</a:t>
                      </a:r>
                      <a:endParaRPr lang="en-US" sz="1200" b="0" u="none" dirty="0">
                        <a:solidFill>
                          <a:schemeClr val="tx1"/>
                        </a:solidFill>
                        <a:latin typeface="Times New Roman" pitchFamily="18" charset="0"/>
                        <a:cs typeface="Times New Roman"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200" b="0" u="none" baseline="0" dirty="0">
                          <a:solidFill>
                            <a:schemeClr val="tx1"/>
                          </a:solidFill>
                          <a:latin typeface="Times New Roman" panose="02020603050405020304" pitchFamily="18" charset="0"/>
                          <a:cs typeface="Times New Roman" panose="02020603050405020304" pitchFamily="18" charset="0"/>
                        </a:rPr>
                        <a:t>In this research work, a unified approach of egocentric hand gesture cognition and fingertip detection is introduced.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200" b="0" u="none" baseline="0" dirty="0">
                          <a:solidFill>
                            <a:schemeClr val="tx1"/>
                          </a:solidFill>
                          <a:latin typeface="Times New Roman" panose="02020603050405020304" pitchFamily="18" charset="0"/>
                          <a:cs typeface="Times New Roman" panose="02020603050405020304" pitchFamily="18" charset="0"/>
                        </a:rPr>
                        <a:t>The proposed algorithm uses a single convolutional </a:t>
                      </a:r>
                    </a:p>
                    <a:p>
                      <a:pPr algn="just"/>
                      <a:r>
                        <a:rPr lang="en-IN" sz="1200" b="0" u="none" baseline="0" dirty="0">
                          <a:solidFill>
                            <a:schemeClr val="tx1"/>
                          </a:solidFill>
                          <a:latin typeface="Times New Roman" panose="02020603050405020304" pitchFamily="18" charset="0"/>
                          <a:cs typeface="Times New Roman" panose="02020603050405020304" pitchFamily="18" charset="0"/>
                        </a:rPr>
                        <a:t>The neural network predicts the probabilities of finger </a:t>
                      </a:r>
                    </a:p>
                    <a:p>
                      <a:pPr algn="just"/>
                      <a:r>
                        <a:rPr lang="en-IN" sz="1200" b="0" u="none" baseline="0" dirty="0">
                          <a:solidFill>
                            <a:schemeClr val="tx1"/>
                          </a:solidFill>
                          <a:latin typeface="Times New Roman" panose="02020603050405020304" pitchFamily="18" charset="0"/>
                          <a:cs typeface="Times New Roman" panose="02020603050405020304" pitchFamily="18" charset="0"/>
                        </a:rPr>
                        <a:t>class and positions of fingertips in one forward propagation</a:t>
                      </a:r>
                    </a:p>
                    <a:p>
                      <a:pPr algn="just"/>
                      <a:endParaRPr lang="en-US" sz="1200" b="0" u="none" dirty="0">
                        <a:solidFill>
                          <a:schemeClr val="tx1"/>
                        </a:solidFill>
                        <a:latin typeface="Times New Roman" pitchFamily="18" charset="0"/>
                        <a:cs typeface="Times New Roman"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1423995">
                <a:tc>
                  <a:txBody>
                    <a:bodyPr/>
                    <a:lstStyle/>
                    <a:p>
                      <a:pPr marL="0" algn="just" defTabSz="914400" rtl="0" eaLnBrk="1" latinLnBrk="0" hangingPunct="1"/>
                      <a:r>
                        <a:rPr lang="en-IN" sz="1200" b="0" u="none" kern="1200" dirty="0">
                          <a:solidFill>
                            <a:schemeClr val="tx1"/>
                          </a:solidFill>
                          <a:effectLst/>
                          <a:latin typeface="+mn-lt"/>
                          <a:ea typeface="+mn-ea"/>
                          <a:cs typeface="+mn-cs"/>
                        </a:rPr>
                        <a:t>N. M. Krishna, R. Y. Reddy, M. S. C. Reddy, K. P. Madhav and G. Sudham</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r>
                        <a:rPr lang="en-IN" sz="1200" b="0" u="none" kern="1200" dirty="0">
                          <a:solidFill>
                            <a:schemeClr val="tx1"/>
                          </a:solidFill>
                          <a:effectLst/>
                          <a:latin typeface="+mn-lt"/>
                          <a:ea typeface="+mn-ea"/>
                          <a:cs typeface="+mn-cs"/>
                        </a:rPr>
                        <a:t>Object Detection and Tracking Using </a:t>
                      </a:r>
                      <a:r>
                        <a:rPr lang="en-US" sz="1200" b="0" u="none" kern="1200" dirty="0">
                          <a:solidFill>
                            <a:schemeClr val="tx1"/>
                          </a:solidFill>
                          <a:effectLst/>
                          <a:latin typeface="+mn-lt"/>
                          <a:ea typeface="+mn-ea"/>
                          <a:cs typeface="+mn-cs"/>
                        </a:rPr>
                        <a:t>You Only Look Once (YOLO), Region-based Convolutional Neural Networks (RCNN), Faster RCNN (F-RCNN) (2021)</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r>
                        <a:rPr lang="en-US" sz="1200" b="0" kern="1200" dirty="0">
                          <a:solidFill>
                            <a:schemeClr val="tx1"/>
                          </a:solidFill>
                          <a:effectLst/>
                          <a:latin typeface="Times New Roman" panose="02020603050405020304" pitchFamily="18" charset="0"/>
                          <a:ea typeface="+mn-ea"/>
                          <a:cs typeface="Times New Roman" panose="02020603050405020304" pitchFamily="18" charset="0"/>
                        </a:rPr>
                        <a:t>This paper focuses deep learning works with the algorithms influenced by the layout and functionalities of the brain, </a:t>
                      </a:r>
                      <a:r>
                        <a:rPr lang="en-IN" sz="1200" b="0" kern="1200" dirty="0">
                          <a:solidFill>
                            <a:schemeClr val="tx1"/>
                          </a:solidFill>
                          <a:effectLst/>
                          <a:latin typeface="Times New Roman" panose="02020603050405020304" pitchFamily="18" charset="0"/>
                          <a:ea typeface="+mn-ea"/>
                          <a:cs typeface="Times New Roman" panose="02020603050405020304" pitchFamily="18" charset="0"/>
                        </a:rPr>
                        <a:t>(YOLO), (RCNN), (F-RCNN). RCNN has better accuracy, but YOLO surpasses when speed is considered over accuracy.</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r>
                        <a:rPr lang="en-US" sz="1200" b="0" u="none" kern="1200" baseline="0" dirty="0">
                          <a:solidFill>
                            <a:schemeClr val="tx1"/>
                          </a:solidFill>
                          <a:latin typeface="+mn-lt"/>
                          <a:ea typeface="+mn-ea"/>
                          <a:cs typeface="+mn-cs"/>
                        </a:rPr>
                        <a:t>This paper focuses on deep learning and how it is applied to detect and track the objects. Deep learning works with the algorithms influenced by the layout and functionalities of the brain. The advantage of working with such algorithms is that the performance increases with increase in data which isn't the traditional learning algorithms whose performance stabilizes even with increase in the amount data. </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1643071">
                <a:tc>
                  <a:txBody>
                    <a:bodyPr/>
                    <a:lstStyle/>
                    <a:p>
                      <a:pPr algn="just"/>
                      <a:r>
                        <a:rPr lang="en-IN" sz="1200" b="0" u="none" kern="1200" dirty="0">
                          <a:solidFill>
                            <a:schemeClr val="tx1"/>
                          </a:solidFill>
                          <a:effectLst/>
                          <a:latin typeface="Times New Roman" panose="02020603050405020304" pitchFamily="18" charset="0"/>
                          <a:cs typeface="Times New Roman" panose="02020603050405020304" pitchFamily="18" charset="0"/>
                        </a:rPr>
                        <a:t>Alamsyah, Derry, and </a:t>
                      </a:r>
                    </a:p>
                    <a:p>
                      <a:pPr algn="just"/>
                      <a:r>
                        <a:rPr lang="en-IN" sz="1200" b="0" u="none" kern="1200" dirty="0">
                          <a:solidFill>
                            <a:schemeClr val="tx1"/>
                          </a:solidFill>
                          <a:effectLst/>
                          <a:latin typeface="Times New Roman" panose="02020603050405020304" pitchFamily="18" charset="0"/>
                          <a:cs typeface="Times New Roman" panose="02020603050405020304" pitchFamily="18" charset="0"/>
                        </a:rPr>
                        <a:t>Muhammad Fachrurrozi</a:t>
                      </a:r>
                      <a:endParaRPr lang="en-IN" sz="1200" b="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1200" b="0" u="none" dirty="0">
                          <a:solidFill>
                            <a:schemeClr val="tx1"/>
                          </a:solidFill>
                          <a:latin typeface="Times New Roman" panose="02020603050405020304" pitchFamily="18" charset="0"/>
                          <a:cs typeface="Times New Roman" panose="02020603050405020304" pitchFamily="18" charset="0"/>
                        </a:rPr>
                        <a:t>Faster R-CNN with inception v2 for</a:t>
                      </a:r>
                    </a:p>
                    <a:p>
                      <a:pPr marL="0" marR="0" indent="0" algn="just" defTabSz="914400" rtl="0" eaLnBrk="1" fontAlgn="auto" latinLnBrk="0" hangingPunct="1">
                        <a:lnSpc>
                          <a:spcPct val="100000"/>
                        </a:lnSpc>
                        <a:spcBef>
                          <a:spcPts val="0"/>
                        </a:spcBef>
                        <a:spcAft>
                          <a:spcPts val="0"/>
                        </a:spcAft>
                        <a:buClrTx/>
                        <a:buSzTx/>
                        <a:buFontTx/>
                        <a:buNone/>
                        <a:tabLst/>
                        <a:defRPr/>
                      </a:pPr>
                      <a:r>
                        <a:rPr lang="en-IN" sz="1200" b="0" u="none" dirty="0">
                          <a:solidFill>
                            <a:schemeClr val="tx1"/>
                          </a:solidFill>
                          <a:latin typeface="Times New Roman" panose="02020603050405020304" pitchFamily="18" charset="0"/>
                          <a:cs typeface="Times New Roman" panose="02020603050405020304" pitchFamily="18" charset="0"/>
                        </a:rPr>
                        <a:t>fingertip detection in the homogenous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1200" b="0" u="none" dirty="0">
                          <a:solidFill>
                            <a:schemeClr val="tx1"/>
                          </a:solidFill>
                          <a:latin typeface="Times New Roman" panose="02020603050405020304" pitchFamily="18" charset="0"/>
                          <a:cs typeface="Times New Roman" panose="02020603050405020304" pitchFamily="18" charset="0"/>
                        </a:rPr>
                        <a:t>background image." Journal of Physics: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1200" b="0" u="none" dirty="0">
                          <a:solidFill>
                            <a:schemeClr val="tx1"/>
                          </a:solidFill>
                          <a:latin typeface="Times New Roman" panose="02020603050405020304" pitchFamily="18" charset="0"/>
                          <a:cs typeface="Times New Roman" panose="02020603050405020304" pitchFamily="18" charset="0"/>
                        </a:rPr>
                        <a:t>Conference Series. Vol. 1196. No. 1. IOP Publishing, (2019)</a:t>
                      </a:r>
                      <a:endParaRPr lang="en-US" sz="1200" b="0" u="none"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200" b="0" u="none" kern="1200" dirty="0">
                          <a:solidFill>
                            <a:schemeClr val="tx1"/>
                          </a:solidFill>
                          <a:latin typeface="Times New Roman" panose="02020603050405020304" pitchFamily="18" charset="0"/>
                          <a:cs typeface="Times New Roman" panose="02020603050405020304" pitchFamily="18" charset="0"/>
                        </a:rPr>
                        <a:t>This approach cut off preprocessing phase </a:t>
                      </a:r>
                    </a:p>
                    <a:p>
                      <a:pPr algn="just"/>
                      <a:r>
                        <a:rPr lang="en-IN" sz="1200" b="0" u="none" kern="1200" dirty="0">
                          <a:solidFill>
                            <a:schemeClr val="tx1"/>
                          </a:solidFill>
                          <a:latin typeface="Times New Roman" panose="02020603050405020304" pitchFamily="18" charset="0"/>
                          <a:cs typeface="Times New Roman" panose="02020603050405020304" pitchFamily="18" charset="0"/>
                        </a:rPr>
                        <a:t>by using the Faster R-CNN method and </a:t>
                      </a:r>
                    </a:p>
                    <a:p>
                      <a:pPr algn="just"/>
                      <a:r>
                        <a:rPr lang="en-IN" sz="1200" b="0" u="none" kern="1200" dirty="0">
                          <a:solidFill>
                            <a:schemeClr val="tx1"/>
                          </a:solidFill>
                          <a:latin typeface="Times New Roman" panose="02020603050405020304" pitchFamily="18" charset="0"/>
                          <a:cs typeface="Times New Roman" panose="02020603050405020304" pitchFamily="18" charset="0"/>
                        </a:rPr>
                        <a:t>inception V2 architecture directly to </a:t>
                      </a:r>
                    </a:p>
                    <a:p>
                      <a:pPr algn="just"/>
                      <a:r>
                        <a:rPr lang="en-IN" sz="1200" b="0" u="none" kern="1200" dirty="0">
                          <a:solidFill>
                            <a:schemeClr val="tx1"/>
                          </a:solidFill>
                          <a:latin typeface="Times New Roman" panose="02020603050405020304" pitchFamily="18" charset="0"/>
                          <a:cs typeface="Times New Roman" panose="02020603050405020304" pitchFamily="18" charset="0"/>
                        </a:rPr>
                        <a:t>find the fingertip in the image</a:t>
                      </a:r>
                      <a:endParaRPr lang="en-US" sz="1200" b="0" u="none"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200" b="0" u="none" strike="noStrike" kern="1200" baseline="0" dirty="0">
                          <a:solidFill>
                            <a:schemeClr val="tx1"/>
                          </a:solidFill>
                          <a:latin typeface="Times New Roman" panose="02020603050405020304" pitchFamily="18" charset="0"/>
                          <a:cs typeface="Times New Roman" panose="02020603050405020304" pitchFamily="18" charset="0"/>
                        </a:rPr>
                        <a:t>It has 90% and 91% accuracy in the way to detect </a:t>
                      </a:r>
                    </a:p>
                    <a:p>
                      <a:pPr algn="just"/>
                      <a:r>
                        <a:rPr lang="en-IN" sz="1200" b="0" u="none" strike="noStrike" kern="1200" baseline="0" dirty="0">
                          <a:solidFill>
                            <a:schemeClr val="tx1"/>
                          </a:solidFill>
                          <a:latin typeface="Times New Roman" panose="02020603050405020304" pitchFamily="18" charset="0"/>
                          <a:cs typeface="Times New Roman" panose="02020603050405020304" pitchFamily="18" charset="0"/>
                        </a:rPr>
                        <a:t>fingertips for both male and female hand datasets. Moreover, exchanging male and female models toward male and female datasets gave 94% and 92% accuracy that showed the between both different patterns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bl>
          </a:graphicData>
        </a:graphic>
      </p:graphicFrame>
      <p:sp>
        <p:nvSpPr>
          <p:cNvPr id="5" name="Slide Number Placeholder 8">
            <a:extLst>
              <a:ext uri="{FF2B5EF4-FFF2-40B4-BE49-F238E27FC236}">
                <a16:creationId xmlns:a16="http://schemas.microsoft.com/office/drawing/2014/main" xmlns="" id="{1BCA0BB1-7558-7856-6D94-6D65022F42B1}"/>
              </a:ext>
            </a:extLst>
          </p:cNvPr>
          <p:cNvSpPr>
            <a:spLocks noGrp="1"/>
          </p:cNvSpPr>
          <p:nvPr>
            <p:ph type="sldNum" sz="quarter" idx="12"/>
          </p:nvPr>
        </p:nvSpPr>
        <p:spPr>
          <a:xfrm>
            <a:off x="8610600" y="6364739"/>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4</a:t>
            </a:fld>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BE541247-44DB-51EF-1A52-6B09067AC1D4}"/>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816545D7-9D48-D95C-CB69-578238C8C3E4}"/>
              </a:ext>
            </a:extLst>
          </p:cNvPr>
          <p:cNvSpPr>
            <a:spLocks noGrp="1"/>
          </p:cNvSpPr>
          <p:nvPr>
            <p:ph type="dt" sz="half" idx="10"/>
          </p:nvPr>
        </p:nvSpPr>
        <p:spPr/>
        <p:txBody>
          <a:bodyPr/>
          <a:lstStyle/>
          <a:p>
            <a:fld id="{92ADBDCA-5BBF-4EE7-AAF4-0D03DFF141BB}"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32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99" y="125760"/>
            <a:ext cx="10972800" cy="1143000"/>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3621639621"/>
              </p:ext>
            </p:extLst>
          </p:nvPr>
        </p:nvGraphicFramePr>
        <p:xfrm>
          <a:off x="476279" y="1268759"/>
          <a:ext cx="11239441" cy="5087591"/>
        </p:xfrm>
        <a:graphic>
          <a:graphicData uri="http://schemas.openxmlformats.org/drawingml/2006/table">
            <a:tbl>
              <a:tblPr firstRow="1" bandRow="1">
                <a:tableStyleId>{68D230F3-CF80-4859-8CE7-A43EE81993B5}</a:tableStyleId>
              </a:tblPr>
              <a:tblGrid>
                <a:gridCol w="1871921">
                  <a:extLst>
                    <a:ext uri="{9D8B030D-6E8A-4147-A177-3AD203B41FA5}">
                      <a16:colId xmlns:a16="http://schemas.microsoft.com/office/drawing/2014/main" xmlns="" val="20000"/>
                    </a:ext>
                  </a:extLst>
                </a:gridCol>
                <a:gridCol w="2576452">
                  <a:extLst>
                    <a:ext uri="{9D8B030D-6E8A-4147-A177-3AD203B41FA5}">
                      <a16:colId xmlns:a16="http://schemas.microsoft.com/office/drawing/2014/main" xmlns="" val="20001"/>
                    </a:ext>
                  </a:extLst>
                </a:gridCol>
                <a:gridCol w="2918321">
                  <a:extLst>
                    <a:ext uri="{9D8B030D-6E8A-4147-A177-3AD203B41FA5}">
                      <a16:colId xmlns:a16="http://schemas.microsoft.com/office/drawing/2014/main" xmlns="" val="20002"/>
                    </a:ext>
                  </a:extLst>
                </a:gridCol>
                <a:gridCol w="3872747">
                  <a:extLst>
                    <a:ext uri="{9D8B030D-6E8A-4147-A177-3AD203B41FA5}">
                      <a16:colId xmlns:a16="http://schemas.microsoft.com/office/drawing/2014/main" xmlns="" val="20003"/>
                    </a:ext>
                  </a:extLst>
                </a:gridCol>
              </a:tblGrid>
              <a:tr h="399455">
                <a:tc>
                  <a:txBody>
                    <a:bodyPr/>
                    <a:lstStyle/>
                    <a:p>
                      <a:pPr marL="0" algn="just" defTabSz="914400" rtl="0" eaLnBrk="1" latinLnBrk="0" hangingPunct="1"/>
                      <a:r>
                        <a:rPr lang="en-US" sz="1200" b="1" u="none" kern="1200" dirty="0">
                          <a:solidFill>
                            <a:schemeClr val="tx1"/>
                          </a:solidFill>
                          <a:latin typeface="Times New Roman" panose="02020603050405020304" pitchFamily="18" charset="0"/>
                          <a:ea typeface="+mn-ea"/>
                          <a:cs typeface="Times New Roman" panose="02020603050405020304" pitchFamily="18" charset="0"/>
                        </a:rPr>
                        <a:t>AUTHORS</a:t>
                      </a:r>
                    </a:p>
                  </a:txBody>
                  <a:tcPr marL="68580" marR="68580" marT="34290" marB="34290" anchor="ctr"/>
                </a:tc>
                <a:tc>
                  <a:txBody>
                    <a:bodyPr/>
                    <a:lstStyle/>
                    <a:p>
                      <a:pPr marL="0" algn="just" defTabSz="914400" rtl="0" eaLnBrk="1" latinLnBrk="0" hangingPunct="1"/>
                      <a:r>
                        <a:rPr lang="en-US" sz="1200" b="1" u="none" kern="1200" dirty="0">
                          <a:solidFill>
                            <a:schemeClr val="tx1"/>
                          </a:solidFill>
                          <a:latin typeface="Times New Roman" panose="02020603050405020304" pitchFamily="18" charset="0"/>
                          <a:ea typeface="+mn-ea"/>
                          <a:cs typeface="Times New Roman" panose="02020603050405020304" pitchFamily="18" charset="0"/>
                        </a:rPr>
                        <a:t>PAPER &amp; JOURNALS</a:t>
                      </a:r>
                    </a:p>
                  </a:txBody>
                  <a:tcPr marL="68580" marR="68580" marT="34290" marB="34290" anchor="ctr"/>
                </a:tc>
                <a:tc>
                  <a:txBody>
                    <a:bodyPr/>
                    <a:lstStyle/>
                    <a:p>
                      <a:pPr marL="0" algn="just" defTabSz="914400" rtl="0" eaLnBrk="1" latinLnBrk="0" hangingPunct="1"/>
                      <a:r>
                        <a:rPr lang="en-US" sz="1200" b="1" u="none" kern="1200" dirty="0">
                          <a:solidFill>
                            <a:schemeClr val="tx1"/>
                          </a:solidFill>
                          <a:latin typeface="Times New Roman" panose="02020603050405020304" pitchFamily="18" charset="0"/>
                          <a:ea typeface="+mn-ea"/>
                          <a:cs typeface="Times New Roman" panose="02020603050405020304" pitchFamily="18" charset="0"/>
                        </a:rPr>
                        <a:t>CONTRIBUTION</a:t>
                      </a:r>
                    </a:p>
                  </a:txBody>
                  <a:tcPr marL="68580" marR="68580" marT="34290" marB="34290" anchor="ctr"/>
                </a:tc>
                <a:tc>
                  <a:txBody>
                    <a:bodyPr/>
                    <a:lstStyle/>
                    <a:p>
                      <a:pPr marL="0" algn="just" defTabSz="914400" rtl="0" eaLnBrk="1" latinLnBrk="0" hangingPunct="1"/>
                      <a:r>
                        <a:rPr lang="en-US" sz="1200" b="1" u="none" kern="1200" dirty="0">
                          <a:solidFill>
                            <a:schemeClr val="tx1"/>
                          </a:solidFill>
                          <a:latin typeface="Times New Roman" panose="02020603050405020304" pitchFamily="18" charset="0"/>
                          <a:ea typeface="+mn-ea"/>
                          <a:cs typeface="Times New Roman" panose="02020603050405020304" pitchFamily="18" charset="0"/>
                        </a:rPr>
                        <a:t>INFERENCE</a:t>
                      </a:r>
                    </a:p>
                  </a:txBody>
                  <a:tcPr marL="68580" marR="68580" marT="34290" marB="34290" anchor="ctr"/>
                </a:tc>
                <a:extLst>
                  <a:ext uri="{0D108BD9-81ED-4DB2-BD59-A6C34878D82A}">
                    <a16:rowId xmlns:a16="http://schemas.microsoft.com/office/drawing/2014/main" xmlns="" val="10000"/>
                  </a:ext>
                </a:extLst>
              </a:tr>
              <a:tr h="1562712">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Duong Hai Nguyen† Tai Nhu SeopSoo-Hyung Kim</a:t>
                      </a:r>
                    </a:p>
                  </a:txBody>
                  <a:tcPr marL="68580" marR="68580" marT="34290" marB="34290" anchor="ctr"/>
                </a:tc>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Hand segmentation and fingertip tracking from camera images using deep convolutional neural network and multi-task segments (2016)</a:t>
                      </a:r>
                      <a:endParaRPr lang="en-US"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nchor="ctr"/>
                </a:tc>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The system consists of three main steps: hand detection, hand segmentation, and fingertip detection using depth image and our modified SegNet, a single lightweight architecture </a:t>
                      </a:r>
                    </a:p>
                  </a:txBody>
                  <a:tcPr marL="68580" marR="68580" marT="34290" marB="34290" anchor="ctr"/>
                </a:tc>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The experimental results show that their system is a</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promising method for hand segmentation and fingertip</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detection which achieves a comparable performance while</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model complexity is suitable for real-time applications</a:t>
                      </a:r>
                      <a:endParaRPr lang="en-US"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nchor="ctr"/>
                </a:tc>
                <a:extLst>
                  <a:ext uri="{0D108BD9-81ED-4DB2-BD59-A6C34878D82A}">
                    <a16:rowId xmlns:a16="http://schemas.microsoft.com/office/drawing/2014/main" xmlns="" val="10001"/>
                  </a:ext>
                </a:extLst>
              </a:tr>
              <a:tr h="1562712">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Zhou Ren, Junsong Yuan,</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 Jingjing Meng, </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and Zhengyou Zhang, </a:t>
                      </a:r>
                    </a:p>
                  </a:txBody>
                  <a:tcPr anchor="ctr"/>
                </a:tc>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Robust part-based hand gesture recognition using Kinect sensor. (2013)</a:t>
                      </a:r>
                    </a:p>
                  </a:txBody>
                  <a:tcPr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effectLst/>
                          <a:latin typeface="Times New Roman" panose="02020603050405020304" pitchFamily="18" charset="0"/>
                          <a:ea typeface="+mn-ea"/>
                          <a:cs typeface="Times New Roman" panose="02020603050405020304" pitchFamily="18" charset="0"/>
                        </a:rPr>
                        <a:t>This paper focuses on building a robust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effectLst/>
                          <a:latin typeface="Times New Roman" panose="02020603050405020304" pitchFamily="18" charset="0"/>
                          <a:ea typeface="+mn-ea"/>
                          <a:cs typeface="Times New Roman" panose="02020603050405020304" pitchFamily="18" charset="0"/>
                        </a:rPr>
                        <a:t>part-based hand gesture recognition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effectLst/>
                          <a:latin typeface="Times New Roman" panose="02020603050405020304" pitchFamily="18" charset="0"/>
                          <a:ea typeface="+mn-ea"/>
                          <a:cs typeface="Times New Roman" panose="02020603050405020304" pitchFamily="18" charset="0"/>
                        </a:rPr>
                        <a:t>a system using Kinect sensor</a:t>
                      </a:r>
                    </a:p>
                  </a:txBody>
                  <a:tcPr anchor="ctr"/>
                </a:tc>
                <a:tc>
                  <a:txBody>
                    <a:bodyPr/>
                    <a:lstStyle/>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Their extensive experiments demonstrate that their hand</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 the gesture recognition system is accurate (a 93.2% mean</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 accuracy on a challenging 10-gesture dataset) and efficient </a:t>
                      </a:r>
                    </a:p>
                    <a:p>
                      <a:pPr marL="0" algn="just" defTabSz="914400" rtl="0" eaLnBrk="1" latinLnBrk="0" hangingPunct="1"/>
                      <a:r>
                        <a:rPr lang="en-IN" sz="1200" b="0" kern="1200" dirty="0">
                          <a:solidFill>
                            <a:schemeClr val="tx1"/>
                          </a:solidFill>
                          <a:effectLst/>
                          <a:latin typeface="Times New Roman" panose="02020603050405020304" pitchFamily="18" charset="0"/>
                          <a:ea typeface="+mn-ea"/>
                          <a:cs typeface="Times New Roman" panose="02020603050405020304" pitchFamily="18" charset="0"/>
                        </a:rPr>
                        <a:t>(average 0.0750 s per frame)</a:t>
                      </a:r>
                    </a:p>
                  </a:txBody>
                  <a:tcPr anchor="ctr"/>
                </a:tc>
                <a:extLst>
                  <a:ext uri="{0D108BD9-81ED-4DB2-BD59-A6C34878D82A}">
                    <a16:rowId xmlns:a16="http://schemas.microsoft.com/office/drawing/2014/main" xmlns="" val="2304324317"/>
                  </a:ext>
                </a:extLst>
              </a:tr>
              <a:tr h="1562712">
                <a:tc>
                  <a:txBody>
                    <a:bodyPr/>
                    <a:lstStyle/>
                    <a:p>
                      <a:pPr marL="0" algn="just" defTabSz="914400" rtl="0" eaLnBrk="1" latinLnBrk="0" hangingPunct="1"/>
                      <a:r>
                        <a:rPr lang="en-US" sz="1200" b="0" kern="1200" dirty="0">
                          <a:solidFill>
                            <a:schemeClr val="tx1"/>
                          </a:solidFill>
                          <a:effectLst/>
                          <a:latin typeface="Times New Roman" panose="02020603050405020304" pitchFamily="18" charset="0"/>
                          <a:ea typeface="+mn-ea"/>
                          <a:cs typeface="Times New Roman" panose="02020603050405020304" pitchFamily="18" charset="0"/>
                        </a:rPr>
                        <a:t>G. -Z. Mao, Y. -L. Wu, M. -K. Hor and C. -Y. Tang</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nchor="ctr"/>
                </a:tc>
                <a:tc>
                  <a:txBody>
                    <a:bodyPr/>
                    <a:lstStyle/>
                    <a:p>
                      <a:pPr marL="0" algn="just" defTabSz="914400" rtl="0" eaLnBrk="1" latinLnBrk="0" hangingPunct="1"/>
                      <a:r>
                        <a:rPr lang="en-US" sz="1200" b="0" kern="1200" dirty="0">
                          <a:solidFill>
                            <a:schemeClr val="tx1"/>
                          </a:solidFill>
                          <a:effectLst/>
                          <a:latin typeface="Times New Roman" panose="02020603050405020304" pitchFamily="18" charset="0"/>
                          <a:ea typeface="+mn-ea"/>
                          <a:cs typeface="Times New Roman" panose="02020603050405020304" pitchFamily="18" charset="0"/>
                        </a:rPr>
                        <a:t>Real-Time Hand Detection, Tracking  against Complex Background (2009)</a:t>
                      </a:r>
                    </a:p>
                  </a:txBody>
                  <a:tcPr marL="68580" marR="68580" marT="34290" marB="34290" anchor="ctr"/>
                </a:tc>
                <a:tc>
                  <a:txBody>
                    <a:bodyPr/>
                    <a:lstStyle/>
                    <a:p>
                      <a:pPr marL="0" algn="just" defTabSz="914400" rtl="0" eaLnBrk="1" latinLnBrk="0" hangingPunct="1"/>
                      <a:r>
                        <a:rPr lang="en-US" sz="1200" b="0" kern="1200" dirty="0">
                          <a:solidFill>
                            <a:schemeClr val="tx1"/>
                          </a:solidFill>
                          <a:effectLst/>
                          <a:latin typeface="Times New Roman" panose="02020603050405020304" pitchFamily="18" charset="0"/>
                          <a:ea typeface="+mn-ea"/>
                          <a:cs typeface="Times New Roman" panose="02020603050405020304" pitchFamily="18" charset="0"/>
                        </a:rPr>
                        <a:t>This paper propose to combine a modified object detection method by Viola and Jones with the skin-color detection method to perform hand detection and tracking against complex background.</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nchor="ctr"/>
                </a:tc>
                <a:tc>
                  <a:txBody>
                    <a:bodyPr/>
                    <a:lstStyle/>
                    <a:p>
                      <a:pPr marL="0" algn="just" defTabSz="914400" rtl="0" eaLnBrk="1" latinLnBrk="0" hangingPunct="1"/>
                      <a:r>
                        <a:rPr lang="en-US" sz="1200" b="0" kern="1200" dirty="0">
                          <a:solidFill>
                            <a:schemeClr val="tx1"/>
                          </a:solidFill>
                          <a:effectLst/>
                          <a:latin typeface="Times New Roman" panose="02020603050405020304" pitchFamily="18" charset="0"/>
                          <a:ea typeface="+mn-ea"/>
                          <a:cs typeface="Times New Roman" panose="02020603050405020304" pitchFamily="18" charset="0"/>
                        </a:rPr>
                        <a:t>Vison Based Interfaces demonstrate hand gesture implementation Out experimental results show that the proposed method is effective in near real-time speed (15 frames per second.).</a:t>
                      </a:r>
                    </a:p>
                  </a:txBody>
                  <a:tcPr marL="68580" marR="68580" marT="34290" marB="34290" anchor="ctr"/>
                </a:tc>
                <a:extLst>
                  <a:ext uri="{0D108BD9-81ED-4DB2-BD59-A6C34878D82A}">
                    <a16:rowId xmlns:a16="http://schemas.microsoft.com/office/drawing/2014/main" xmlns="" val="278288381"/>
                  </a:ext>
                </a:extLst>
              </a:tr>
            </a:tbl>
          </a:graphicData>
        </a:graphic>
      </p:graphicFrame>
      <p:sp>
        <p:nvSpPr>
          <p:cNvPr id="5" name="Slide Number Placeholder 8">
            <a:extLst>
              <a:ext uri="{FF2B5EF4-FFF2-40B4-BE49-F238E27FC236}">
                <a16:creationId xmlns:a16="http://schemas.microsoft.com/office/drawing/2014/main" xmlns="" id="{E4D318B0-847A-A638-A07B-88D8B44AD7D6}"/>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5</a:t>
            </a:fld>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2DF1BC23-85D2-D6E0-717A-26641E7F0156}"/>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38580C70-16CC-D0A5-544B-4D35C76B602A}"/>
              </a:ext>
            </a:extLst>
          </p:cNvPr>
          <p:cNvSpPr>
            <a:spLocks noGrp="1"/>
          </p:cNvSpPr>
          <p:nvPr>
            <p:ph type="dt" sz="half" idx="10"/>
          </p:nvPr>
        </p:nvSpPr>
        <p:spPr/>
        <p:txBody>
          <a:bodyPr/>
          <a:lstStyle/>
          <a:p>
            <a:fld id="{9D42763C-0D47-4A42-91A2-8B0A97AEBBCE}"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59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xmlns="" id="{222268D1-C6BB-4F93-8509-6965803C380C}"/>
              </a:ext>
            </a:extLst>
          </p:cNvPr>
          <p:cNvSpPr>
            <a:spLocks noGrp="1"/>
          </p:cNvSpPr>
          <p:nvPr>
            <p:ph type="title"/>
          </p:nvPr>
        </p:nvSpPr>
        <p:spPr>
          <a:xfrm>
            <a:off x="574142" y="427635"/>
            <a:ext cx="10515600" cy="1325563"/>
          </a:xfrm>
        </p:spPr>
        <p:txBody>
          <a:bodyPr/>
          <a:lstStyle/>
          <a:p>
            <a:r>
              <a:rPr lang="en-US" dirty="0">
                <a:latin typeface="Times New Roman" panose="02020603050405020304" pitchFamily="18" charset="0"/>
                <a:cs typeface="Times New Roman" panose="02020603050405020304" pitchFamily="18" charset="0"/>
              </a:rPr>
              <a:t>Problem Statement </a:t>
            </a:r>
            <a:endParaRPr lang="en-IN" dirty="0">
              <a:latin typeface="Times New Roman" panose="02020603050405020304" pitchFamily="18" charset="0"/>
              <a:cs typeface="Times New Roman" panose="02020603050405020304" pitchFamily="18" charset="0"/>
            </a:endParaRPr>
          </a:p>
        </p:txBody>
      </p:sp>
      <p:sp>
        <p:nvSpPr>
          <p:cNvPr id="12" name="Slide Number Placeholder 8">
            <a:extLst>
              <a:ext uri="{FF2B5EF4-FFF2-40B4-BE49-F238E27FC236}">
                <a16:creationId xmlns:a16="http://schemas.microsoft.com/office/drawing/2014/main" xmlns="" id="{8B99695F-CFF1-BFC3-AAC0-786AC1FED67E}"/>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6</a:t>
            </a:fld>
            <a:endParaRPr lang="en-IN" dirty="0">
              <a:solidFill>
                <a:schemeClr val="tx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xmlns="" id="{B14EAED1-2368-DB20-6429-1541D67EF6D3}"/>
              </a:ext>
            </a:extLst>
          </p:cNvPr>
          <p:cNvPicPr>
            <a:picLocks noChangeAspect="1"/>
          </p:cNvPicPr>
          <p:nvPr/>
        </p:nvPicPr>
        <p:blipFill>
          <a:blip r:embed="rId2"/>
          <a:stretch>
            <a:fillRect/>
          </a:stretch>
        </p:blipFill>
        <p:spPr>
          <a:xfrm>
            <a:off x="9974510" y="136525"/>
            <a:ext cx="2217490" cy="809084"/>
          </a:xfrm>
          <a:prstGeom prst="rect">
            <a:avLst/>
          </a:prstGeom>
        </p:spPr>
      </p:pic>
      <p:sp>
        <p:nvSpPr>
          <p:cNvPr id="2" name="Content Placeholder 2">
            <a:extLst>
              <a:ext uri="{FF2B5EF4-FFF2-40B4-BE49-F238E27FC236}">
                <a16:creationId xmlns:a16="http://schemas.microsoft.com/office/drawing/2014/main" xmlns="" id="{D0EBF53C-F16F-CEE0-D0E7-65220F821DE3}"/>
              </a:ext>
            </a:extLst>
          </p:cNvPr>
          <p:cNvSpPr>
            <a:spLocks noGrp="1"/>
          </p:cNvSpPr>
          <p:nvPr>
            <p:ph idx="1"/>
          </p:nvPr>
        </p:nvSpPr>
        <p:spPr>
          <a:xfrm>
            <a:off x="838200" y="1825625"/>
            <a:ext cx="105156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Evidence suggests that using interactive whiteboards (IWBs) can help instructors and students maintain concentration and promote more effective learning, </a:t>
            </a:r>
          </a:p>
          <a:p>
            <a:pPr algn="just"/>
            <a:r>
              <a:rPr lang="en-IN" sz="2400" dirty="0">
                <a:latin typeface="Times New Roman" panose="02020603050405020304" pitchFamily="18" charset="0"/>
                <a:cs typeface="Times New Roman" panose="02020603050405020304" pitchFamily="18" charset="0"/>
              </a:rPr>
              <a:t>However the virtual interaction between instructor and learner in the classroom is still in traditional mode.  </a:t>
            </a:r>
          </a:p>
          <a:p>
            <a:pPr algn="just"/>
            <a:r>
              <a:rPr lang="en-US" sz="2400" dirty="0">
                <a:latin typeface="Times New Roman" panose="02020603050405020304" pitchFamily="18" charset="0"/>
                <a:cs typeface="Times New Roman" panose="02020603050405020304" pitchFamily="18" charset="0"/>
              </a:rPr>
              <a:t>Cost effective solution to be proposed without the use of external hardware by using technological advancements in the field of Artificial Intelligence. </a:t>
            </a:r>
          </a:p>
          <a:p>
            <a:pPr algn="just"/>
            <a:r>
              <a:rPr lang="en-US" sz="2400" dirty="0">
                <a:latin typeface="Times New Roman" panose="02020603050405020304" pitchFamily="18" charset="0"/>
                <a:cs typeface="Times New Roman" panose="02020603050405020304" pitchFamily="18" charset="0"/>
              </a:rPr>
              <a:t>It allows the use of our physical hand as a control tool to monitor the writing functionality on a virtual smart board which can be created virtually by using any plain surface.</a:t>
            </a:r>
          </a:p>
        </p:txBody>
      </p:sp>
      <p:sp>
        <p:nvSpPr>
          <p:cNvPr id="4" name="Date Placeholder 3">
            <a:extLst>
              <a:ext uri="{FF2B5EF4-FFF2-40B4-BE49-F238E27FC236}">
                <a16:creationId xmlns:a16="http://schemas.microsoft.com/office/drawing/2014/main" xmlns="" id="{CBC0AE5D-0B46-898D-FD4F-10AD209EDCF5}"/>
              </a:ext>
            </a:extLst>
          </p:cNvPr>
          <p:cNvSpPr>
            <a:spLocks noGrp="1"/>
          </p:cNvSpPr>
          <p:nvPr>
            <p:ph type="dt" sz="half" idx="10"/>
          </p:nvPr>
        </p:nvSpPr>
        <p:spPr/>
        <p:txBody>
          <a:bodyPr/>
          <a:lstStyle/>
          <a:p>
            <a:fld id="{C5B7ACE1-03D9-413F-B2B1-6F8E0351CAD5}"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02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9920" y="1919288"/>
            <a:ext cx="11109960" cy="4351338"/>
          </a:xfrm>
        </p:spPr>
        <p:txBody>
          <a:bodyPr>
            <a:normAutofit/>
          </a:bodyPr>
          <a:lstStyle/>
          <a:p>
            <a:r>
              <a:rPr lang="en-US" dirty="0">
                <a:latin typeface="Times New Roman" panose="02020603050405020304" pitchFamily="18" charset="0"/>
                <a:cs typeface="Times New Roman" panose="02020603050405020304" pitchFamily="18" charset="0"/>
              </a:rPr>
              <a:t>To recognize the hand motion in real-time using deep learning model.</a:t>
            </a:r>
          </a:p>
          <a:p>
            <a:pPr marL="285750" indent="-285750" algn="just"/>
            <a:r>
              <a:rPr lang="en-US" dirty="0">
                <a:latin typeface="Times New Roman" panose="02020603050405020304" pitchFamily="18" charset="0"/>
                <a:cs typeface="Times New Roman" panose="02020603050405020304" pitchFamily="18" charset="0"/>
              </a:rPr>
              <a:t>To output the image recognition in window camera interface.</a:t>
            </a:r>
          </a:p>
        </p:txBody>
      </p:sp>
      <p:sp>
        <p:nvSpPr>
          <p:cNvPr id="5" name="Slide Number Placeholder 8">
            <a:extLst>
              <a:ext uri="{FF2B5EF4-FFF2-40B4-BE49-F238E27FC236}">
                <a16:creationId xmlns:a16="http://schemas.microsoft.com/office/drawing/2014/main" xmlns="" id="{2174F1B7-32D4-2F38-0A67-3FB774595A00}"/>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7</a:t>
            </a:fld>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8C190F0F-DC6B-A447-FE11-F637CFD216A7}"/>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3E1DFDA7-4BA1-C776-37E6-225E4EA0C3A1}"/>
              </a:ext>
            </a:extLst>
          </p:cNvPr>
          <p:cNvSpPr>
            <a:spLocks noGrp="1"/>
          </p:cNvSpPr>
          <p:nvPr>
            <p:ph type="dt" sz="half" idx="10"/>
          </p:nvPr>
        </p:nvSpPr>
        <p:spPr/>
        <p:txBody>
          <a:bodyPr/>
          <a:lstStyle/>
          <a:p>
            <a:fld id="{792875CB-5A0C-40D9-ABB3-BDB59AECBA5D}"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54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D2B298-3676-2A25-E917-E82AB551CC2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Novelty </a:t>
            </a:r>
          </a:p>
        </p:txBody>
      </p:sp>
      <p:sp>
        <p:nvSpPr>
          <p:cNvPr id="3" name="Content Placeholder 2">
            <a:extLst>
              <a:ext uri="{FF2B5EF4-FFF2-40B4-BE49-F238E27FC236}">
                <a16:creationId xmlns:a16="http://schemas.microsoft.com/office/drawing/2014/main" xmlns="" id="{8E05D0A7-9D0E-FF22-D65C-60590C46AB5A}"/>
              </a:ext>
            </a:extLst>
          </p:cNvPr>
          <p:cNvSpPr>
            <a:spLocks noGrp="1"/>
          </p:cNvSpPr>
          <p:nvPr>
            <p:ph idx="1"/>
          </p:nvPr>
        </p:nvSpPr>
        <p:spPr/>
        <p:txBody>
          <a:bodyPr>
            <a:normAutofit/>
          </a:bodyPr>
          <a:lstStyle/>
          <a:p>
            <a:pPr lvl="0" algn="just"/>
            <a:r>
              <a:rPr lang="en-US" sz="2400" dirty="0">
                <a:latin typeface="Times New Roman" panose="02020603050405020304" pitchFamily="18" charset="0"/>
                <a:cs typeface="Times New Roman" panose="02020603050405020304" pitchFamily="18" charset="0"/>
              </a:rPr>
              <a:t>The hand detection Yolo algorithm and fingertip detection Virtual geometric group algorithm modules will run in parallel with same data sets.</a:t>
            </a:r>
          </a:p>
          <a:p>
            <a:pPr lvl="0" algn="just"/>
            <a:r>
              <a:rPr lang="en-US" sz="2400" dirty="0">
                <a:latin typeface="Times New Roman" panose="02020603050405020304" pitchFamily="18" charset="0"/>
                <a:cs typeface="Times New Roman" panose="02020603050405020304" pitchFamily="18" charset="0"/>
              </a:rPr>
              <a:t>Thus a mathematical logic to combine the two above modules.</a:t>
            </a:r>
          </a:p>
          <a:p>
            <a:pPr lvl="0" algn="just"/>
            <a:r>
              <a:rPr lang="en-US" sz="2400" dirty="0">
                <a:latin typeface="Times New Roman" panose="02020603050405020304" pitchFamily="18" charset="0"/>
                <a:cs typeface="Times New Roman" panose="02020603050405020304" pitchFamily="18" charset="0"/>
              </a:rPr>
              <a:t>It is a real time execution with four operations on the virtual smart board i.e. write, clear, erase, move.</a:t>
            </a:r>
          </a:p>
        </p:txBody>
      </p:sp>
      <p:sp>
        <p:nvSpPr>
          <p:cNvPr id="4" name="Slide Number Placeholder 3">
            <a:extLst>
              <a:ext uri="{FF2B5EF4-FFF2-40B4-BE49-F238E27FC236}">
                <a16:creationId xmlns:a16="http://schemas.microsoft.com/office/drawing/2014/main" xmlns="" id="{DDFFCD7A-FC25-6D23-474F-8E2491E67B18}"/>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8</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879AD744-E88D-3325-6BBD-36C09598B3EB}"/>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AC2D0C90-2F57-BDAC-3BAA-C438AB5AC136}"/>
              </a:ext>
            </a:extLst>
          </p:cNvPr>
          <p:cNvSpPr>
            <a:spLocks noGrp="1"/>
          </p:cNvSpPr>
          <p:nvPr>
            <p:ph type="dt" sz="half" idx="10"/>
          </p:nvPr>
        </p:nvSpPr>
        <p:spPr/>
        <p:txBody>
          <a:bodyPr/>
          <a:lstStyle/>
          <a:p>
            <a:fld id="{8AB2A4CE-9F5A-4D3F-B93F-FD0FE1C8A302}"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991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2AF622-C3A9-B858-339E-27EE9CA99F84}"/>
              </a:ext>
            </a:extLst>
          </p:cNvPr>
          <p:cNvSpPr>
            <a:spLocks noGrp="1"/>
          </p:cNvSpPr>
          <p:nvPr>
            <p:ph type="title"/>
          </p:nvPr>
        </p:nvSpPr>
        <p:spPr>
          <a:xfrm>
            <a:off x="738174" y="174746"/>
            <a:ext cx="10515600" cy="1325563"/>
          </a:xfrm>
        </p:spPr>
        <p:txBody>
          <a:bodyPr/>
          <a:lstStyle/>
          <a:p>
            <a:r>
              <a:rPr lang="en-IN" dirty="0">
                <a:latin typeface="Times New Roman" panose="02020603050405020304" pitchFamily="18" charset="0"/>
                <a:cs typeface="Times New Roman" panose="02020603050405020304" pitchFamily="18" charset="0"/>
              </a:rPr>
              <a:t>System/Architecture Diagram</a:t>
            </a:r>
          </a:p>
        </p:txBody>
      </p:sp>
      <p:sp>
        <p:nvSpPr>
          <p:cNvPr id="4" name="Slide Number Placeholder 3">
            <a:extLst>
              <a:ext uri="{FF2B5EF4-FFF2-40B4-BE49-F238E27FC236}">
                <a16:creationId xmlns:a16="http://schemas.microsoft.com/office/drawing/2014/main" xmlns="" id="{CEB1CB11-A35D-8296-DB2D-593E9F9D0DA3}"/>
              </a:ext>
            </a:extLst>
          </p:cNvPr>
          <p:cNvSpPr>
            <a:spLocks noGrp="1"/>
          </p:cNvSpPr>
          <p:nvPr>
            <p:ph type="sldNum" sz="quarter" idx="12"/>
          </p:nvPr>
        </p:nvSpPr>
        <p:spPr/>
        <p:txBody>
          <a:bodyPr/>
          <a:lstStyle/>
          <a:p>
            <a:fld id="{B2E42496-0DFE-461C-AEF9-E32CAB4F9D3D}" type="slidenum">
              <a:rPr lang="en-IN" sz="1800" smtClean="0">
                <a:solidFill>
                  <a:schemeClr val="tx1"/>
                </a:solidFill>
                <a:latin typeface="Times New Roman" panose="02020603050405020304" pitchFamily="18" charset="0"/>
                <a:cs typeface="Times New Roman" panose="02020603050405020304" pitchFamily="18" charset="0"/>
              </a:rPr>
              <a:pPr/>
              <a:t>9</a:t>
            </a:fld>
            <a:endParaRPr lang="en-IN" sz="1800" dirty="0"/>
          </a:p>
        </p:txBody>
      </p:sp>
      <p:pic>
        <p:nvPicPr>
          <p:cNvPr id="5" name="Picture 4">
            <a:extLst>
              <a:ext uri="{FF2B5EF4-FFF2-40B4-BE49-F238E27FC236}">
                <a16:creationId xmlns:a16="http://schemas.microsoft.com/office/drawing/2014/main" xmlns="" id="{1083FBD6-92BB-68F8-AD17-353659D1B209}"/>
              </a:ext>
            </a:extLst>
          </p:cNvPr>
          <p:cNvPicPr>
            <a:picLocks noChangeAspect="1"/>
          </p:cNvPicPr>
          <p:nvPr/>
        </p:nvPicPr>
        <p:blipFill>
          <a:blip r:embed="rId3"/>
          <a:stretch>
            <a:fillRect/>
          </a:stretch>
        </p:blipFill>
        <p:spPr>
          <a:xfrm>
            <a:off x="9974510" y="136525"/>
            <a:ext cx="2217490" cy="809084"/>
          </a:xfrm>
          <a:prstGeom prst="rect">
            <a:avLst/>
          </a:prstGeom>
        </p:spPr>
      </p:pic>
      <p:sp>
        <p:nvSpPr>
          <p:cNvPr id="8" name="Oval 7">
            <a:extLst>
              <a:ext uri="{FF2B5EF4-FFF2-40B4-BE49-F238E27FC236}">
                <a16:creationId xmlns:a16="http://schemas.microsoft.com/office/drawing/2014/main" xmlns="" id="{C3C8E197-A8CF-ECDC-8DF5-C0FE3A8BB15F}"/>
              </a:ext>
            </a:extLst>
          </p:cNvPr>
          <p:cNvSpPr/>
          <p:nvPr/>
        </p:nvSpPr>
        <p:spPr>
          <a:xfrm>
            <a:off x="667505" y="1532882"/>
            <a:ext cx="2090409" cy="899160"/>
          </a:xfrm>
          <a:prstGeom prst="ellipse">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Live Video Capture </a:t>
            </a:r>
          </a:p>
        </p:txBody>
      </p:sp>
      <p:sp>
        <p:nvSpPr>
          <p:cNvPr id="11" name="Rectangle 10">
            <a:extLst>
              <a:ext uri="{FF2B5EF4-FFF2-40B4-BE49-F238E27FC236}">
                <a16:creationId xmlns:a16="http://schemas.microsoft.com/office/drawing/2014/main" xmlns="" id="{2C64870D-8939-DA73-EB06-BCCFBA316FBF}"/>
              </a:ext>
            </a:extLst>
          </p:cNvPr>
          <p:cNvSpPr/>
          <p:nvPr/>
        </p:nvSpPr>
        <p:spPr>
          <a:xfrm>
            <a:off x="826906" y="3809222"/>
            <a:ext cx="1879135"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YOLO model </a:t>
            </a:r>
          </a:p>
        </p:txBody>
      </p:sp>
      <p:sp>
        <p:nvSpPr>
          <p:cNvPr id="12" name="Rectangle 11">
            <a:extLst>
              <a:ext uri="{FF2B5EF4-FFF2-40B4-BE49-F238E27FC236}">
                <a16:creationId xmlns:a16="http://schemas.microsoft.com/office/drawing/2014/main" xmlns="" id="{5EE312BE-7C54-58F4-57A7-71800ECBB8CC}"/>
              </a:ext>
            </a:extLst>
          </p:cNvPr>
          <p:cNvSpPr/>
          <p:nvPr/>
        </p:nvSpPr>
        <p:spPr>
          <a:xfrm>
            <a:off x="3562415" y="3809222"/>
            <a:ext cx="1879135"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Hand Detection </a:t>
            </a:r>
          </a:p>
        </p:txBody>
      </p:sp>
      <p:sp>
        <p:nvSpPr>
          <p:cNvPr id="14" name="Rectangle 13">
            <a:extLst>
              <a:ext uri="{FF2B5EF4-FFF2-40B4-BE49-F238E27FC236}">
                <a16:creationId xmlns:a16="http://schemas.microsoft.com/office/drawing/2014/main" xmlns="" id="{ABE5AFB6-EEAE-4723-EE88-5035AB3BB2A4}"/>
              </a:ext>
            </a:extLst>
          </p:cNvPr>
          <p:cNvSpPr/>
          <p:nvPr/>
        </p:nvSpPr>
        <p:spPr>
          <a:xfrm>
            <a:off x="6297924" y="3809222"/>
            <a:ext cx="1879135"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Blob generation </a:t>
            </a:r>
          </a:p>
        </p:txBody>
      </p:sp>
      <p:sp>
        <p:nvSpPr>
          <p:cNvPr id="15" name="Rectangle 14">
            <a:extLst>
              <a:ext uri="{FF2B5EF4-FFF2-40B4-BE49-F238E27FC236}">
                <a16:creationId xmlns:a16="http://schemas.microsoft.com/office/drawing/2014/main" xmlns="" id="{28F830C1-011E-4AE9-1960-6523FFC5E479}"/>
              </a:ext>
            </a:extLst>
          </p:cNvPr>
          <p:cNvSpPr/>
          <p:nvPr/>
        </p:nvSpPr>
        <p:spPr>
          <a:xfrm>
            <a:off x="9033433" y="3809222"/>
            <a:ext cx="1879135"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VGG model</a:t>
            </a:r>
          </a:p>
        </p:txBody>
      </p:sp>
      <p:sp>
        <p:nvSpPr>
          <p:cNvPr id="10" name="Rectangle 9">
            <a:extLst>
              <a:ext uri="{FF2B5EF4-FFF2-40B4-BE49-F238E27FC236}">
                <a16:creationId xmlns:a16="http://schemas.microsoft.com/office/drawing/2014/main" xmlns="" id="{3AEBC355-2B7D-D41B-BF90-7DDAA52402F2}"/>
              </a:ext>
            </a:extLst>
          </p:cNvPr>
          <p:cNvSpPr/>
          <p:nvPr/>
        </p:nvSpPr>
        <p:spPr>
          <a:xfrm>
            <a:off x="826906" y="2932116"/>
            <a:ext cx="1879135"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solidFill>
                  <a:schemeClr val="tx1"/>
                </a:solidFill>
              </a:rPr>
              <a:t>Frames</a:t>
            </a:r>
            <a:r>
              <a:rPr lang="en-IN" dirty="0"/>
              <a:t> </a:t>
            </a:r>
          </a:p>
        </p:txBody>
      </p:sp>
      <p:sp>
        <p:nvSpPr>
          <p:cNvPr id="16" name="Rectangle 15">
            <a:extLst>
              <a:ext uri="{FF2B5EF4-FFF2-40B4-BE49-F238E27FC236}">
                <a16:creationId xmlns:a16="http://schemas.microsoft.com/office/drawing/2014/main" xmlns="" id="{87637C5D-C8E7-074E-88C1-56AAAC279411}"/>
              </a:ext>
            </a:extLst>
          </p:cNvPr>
          <p:cNvSpPr/>
          <p:nvPr/>
        </p:nvSpPr>
        <p:spPr>
          <a:xfrm>
            <a:off x="8959442" y="5361217"/>
            <a:ext cx="2030136"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Fingertip Detection </a:t>
            </a:r>
          </a:p>
        </p:txBody>
      </p:sp>
      <p:sp>
        <p:nvSpPr>
          <p:cNvPr id="17" name="Rectangle 16">
            <a:extLst>
              <a:ext uri="{FF2B5EF4-FFF2-40B4-BE49-F238E27FC236}">
                <a16:creationId xmlns:a16="http://schemas.microsoft.com/office/drawing/2014/main" xmlns="" id="{477E06CF-0C21-5475-ABB1-5BD7DBCFE408}"/>
              </a:ext>
            </a:extLst>
          </p:cNvPr>
          <p:cNvSpPr/>
          <p:nvPr/>
        </p:nvSpPr>
        <p:spPr>
          <a:xfrm>
            <a:off x="5584974" y="5361217"/>
            <a:ext cx="2092353" cy="633062"/>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a:t>Virtual Smart Board </a:t>
            </a:r>
          </a:p>
        </p:txBody>
      </p:sp>
      <p:sp>
        <p:nvSpPr>
          <p:cNvPr id="49" name="Arrow: U-Turn 48">
            <a:extLst>
              <a:ext uri="{FF2B5EF4-FFF2-40B4-BE49-F238E27FC236}">
                <a16:creationId xmlns:a16="http://schemas.microsoft.com/office/drawing/2014/main" xmlns="" id="{D9857891-315E-39A5-5DDB-224A879AF115}"/>
              </a:ext>
            </a:extLst>
          </p:cNvPr>
          <p:cNvSpPr/>
          <p:nvPr/>
        </p:nvSpPr>
        <p:spPr>
          <a:xfrm rot="5400000" flipV="1">
            <a:off x="-50861" y="3423408"/>
            <a:ext cx="899160" cy="608634"/>
          </a:xfrm>
          <a:prstGeom prst="uturnArrow">
            <a:avLst/>
          </a:prstGeom>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8" name="Oval 17">
            <a:extLst>
              <a:ext uri="{FF2B5EF4-FFF2-40B4-BE49-F238E27FC236}">
                <a16:creationId xmlns:a16="http://schemas.microsoft.com/office/drawing/2014/main" xmlns="" id="{D2DE50F0-F46B-C59C-1F09-869E6B7D424C}"/>
              </a:ext>
            </a:extLst>
          </p:cNvPr>
          <p:cNvSpPr/>
          <p:nvPr/>
        </p:nvSpPr>
        <p:spPr>
          <a:xfrm>
            <a:off x="4296840" y="6079513"/>
            <a:ext cx="1003604" cy="5536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erase</a:t>
            </a:r>
          </a:p>
        </p:txBody>
      </p:sp>
      <p:sp>
        <p:nvSpPr>
          <p:cNvPr id="34" name="Arrow: Left 33">
            <a:extLst>
              <a:ext uri="{FF2B5EF4-FFF2-40B4-BE49-F238E27FC236}">
                <a16:creationId xmlns:a16="http://schemas.microsoft.com/office/drawing/2014/main" xmlns="" id="{940DDC95-B6D0-26D3-E3E0-798801B42752}"/>
              </a:ext>
            </a:extLst>
          </p:cNvPr>
          <p:cNvSpPr/>
          <p:nvPr/>
        </p:nvSpPr>
        <p:spPr>
          <a:xfrm>
            <a:off x="2867128" y="1884906"/>
            <a:ext cx="595618" cy="2335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Arrow: Right 50">
            <a:extLst>
              <a:ext uri="{FF2B5EF4-FFF2-40B4-BE49-F238E27FC236}">
                <a16:creationId xmlns:a16="http://schemas.microsoft.com/office/drawing/2014/main" xmlns="" id="{640856D0-6B43-D301-E4C2-C78ECB584BC2}"/>
              </a:ext>
            </a:extLst>
          </p:cNvPr>
          <p:cNvSpPr/>
          <p:nvPr/>
        </p:nvSpPr>
        <p:spPr>
          <a:xfrm>
            <a:off x="2878065" y="4008976"/>
            <a:ext cx="595618" cy="2335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Arrow: Right 51">
            <a:extLst>
              <a:ext uri="{FF2B5EF4-FFF2-40B4-BE49-F238E27FC236}">
                <a16:creationId xmlns:a16="http://schemas.microsoft.com/office/drawing/2014/main" xmlns="" id="{72D8FE1A-0B80-DE5D-7226-74CCD3492031}"/>
              </a:ext>
            </a:extLst>
          </p:cNvPr>
          <p:cNvSpPr/>
          <p:nvPr/>
        </p:nvSpPr>
        <p:spPr>
          <a:xfrm>
            <a:off x="5573680" y="4008975"/>
            <a:ext cx="595618" cy="2335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Right 52">
            <a:extLst>
              <a:ext uri="{FF2B5EF4-FFF2-40B4-BE49-F238E27FC236}">
                <a16:creationId xmlns:a16="http://schemas.microsoft.com/office/drawing/2014/main" xmlns="" id="{70A36555-32C6-AC82-2CDA-531659CB4B04}"/>
              </a:ext>
            </a:extLst>
          </p:cNvPr>
          <p:cNvSpPr/>
          <p:nvPr/>
        </p:nvSpPr>
        <p:spPr>
          <a:xfrm>
            <a:off x="8306494" y="4008974"/>
            <a:ext cx="595618" cy="2335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Arrow: Down 53">
            <a:extLst>
              <a:ext uri="{FF2B5EF4-FFF2-40B4-BE49-F238E27FC236}">
                <a16:creationId xmlns:a16="http://schemas.microsoft.com/office/drawing/2014/main" xmlns="" id="{F24F04AE-57A6-747D-1AFD-E327E3839A4D}"/>
              </a:ext>
            </a:extLst>
          </p:cNvPr>
          <p:cNvSpPr/>
          <p:nvPr/>
        </p:nvSpPr>
        <p:spPr>
          <a:xfrm>
            <a:off x="9857120" y="4616138"/>
            <a:ext cx="323199" cy="5640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Arrow: Right 54">
            <a:extLst>
              <a:ext uri="{FF2B5EF4-FFF2-40B4-BE49-F238E27FC236}">
                <a16:creationId xmlns:a16="http://schemas.microsoft.com/office/drawing/2014/main" xmlns="" id="{4B05C60A-F1F1-1CE8-BFC9-759771C21899}"/>
              </a:ext>
            </a:extLst>
          </p:cNvPr>
          <p:cNvSpPr/>
          <p:nvPr/>
        </p:nvSpPr>
        <p:spPr>
          <a:xfrm flipH="1">
            <a:off x="7993379" y="5609047"/>
            <a:ext cx="713297" cy="2335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xmlns="" id="{DDEC9430-5FDC-4B5C-D954-70A813BA8F9A}"/>
              </a:ext>
            </a:extLst>
          </p:cNvPr>
          <p:cNvSpPr/>
          <p:nvPr/>
        </p:nvSpPr>
        <p:spPr>
          <a:xfrm>
            <a:off x="4296840" y="4722279"/>
            <a:ext cx="1003604" cy="5536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write</a:t>
            </a:r>
          </a:p>
        </p:txBody>
      </p:sp>
      <p:sp>
        <p:nvSpPr>
          <p:cNvPr id="57" name="Oval 56">
            <a:extLst>
              <a:ext uri="{FF2B5EF4-FFF2-40B4-BE49-F238E27FC236}">
                <a16:creationId xmlns:a16="http://schemas.microsoft.com/office/drawing/2014/main" xmlns="" id="{4AE7A1B0-674B-BD09-CABD-7065DBA54E06}"/>
              </a:ext>
            </a:extLst>
          </p:cNvPr>
          <p:cNvSpPr/>
          <p:nvPr/>
        </p:nvSpPr>
        <p:spPr>
          <a:xfrm>
            <a:off x="3344399" y="5127330"/>
            <a:ext cx="983820" cy="5536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clear</a:t>
            </a:r>
          </a:p>
        </p:txBody>
      </p:sp>
      <p:sp>
        <p:nvSpPr>
          <p:cNvPr id="59" name="Oval 58">
            <a:extLst>
              <a:ext uri="{FF2B5EF4-FFF2-40B4-BE49-F238E27FC236}">
                <a16:creationId xmlns:a16="http://schemas.microsoft.com/office/drawing/2014/main" xmlns="" id="{15E317B5-C061-85BA-DF16-E711FD0F514F}"/>
              </a:ext>
            </a:extLst>
          </p:cNvPr>
          <p:cNvSpPr/>
          <p:nvPr/>
        </p:nvSpPr>
        <p:spPr>
          <a:xfrm>
            <a:off x="3311383" y="5757113"/>
            <a:ext cx="1003604" cy="55367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move</a:t>
            </a:r>
          </a:p>
        </p:txBody>
      </p:sp>
      <p:cxnSp>
        <p:nvCxnSpPr>
          <p:cNvPr id="61" name="Straight Arrow Connector 60">
            <a:extLst>
              <a:ext uri="{FF2B5EF4-FFF2-40B4-BE49-F238E27FC236}">
                <a16:creationId xmlns:a16="http://schemas.microsoft.com/office/drawing/2014/main" xmlns="" id="{62095E00-7D1A-AF3D-D4AA-6A605BA7A1B2}"/>
              </a:ext>
            </a:extLst>
          </p:cNvPr>
          <p:cNvCxnSpPr>
            <a:stCxn id="17" idx="1"/>
            <a:endCxn id="56" idx="4"/>
          </p:cNvCxnSpPr>
          <p:nvPr/>
        </p:nvCxnSpPr>
        <p:spPr>
          <a:xfrm flipH="1" flipV="1">
            <a:off x="4798642" y="5275952"/>
            <a:ext cx="786332" cy="4017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xmlns="" id="{9AA78911-7FEE-20CB-9E60-DBE8F3B63FDB}"/>
              </a:ext>
            </a:extLst>
          </p:cNvPr>
          <p:cNvCxnSpPr>
            <a:stCxn id="17" idx="1"/>
            <a:endCxn id="57" idx="5"/>
          </p:cNvCxnSpPr>
          <p:nvPr/>
        </p:nvCxnSpPr>
        <p:spPr>
          <a:xfrm flipH="1" flipV="1">
            <a:off x="4184142" y="5599919"/>
            <a:ext cx="1400832" cy="778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xmlns="" id="{8F9E7864-E811-2367-FEC1-5D9A33A9E286}"/>
              </a:ext>
            </a:extLst>
          </p:cNvPr>
          <p:cNvCxnSpPr>
            <a:cxnSpLocks/>
            <a:stCxn id="17" idx="1"/>
            <a:endCxn id="59" idx="6"/>
          </p:cNvCxnSpPr>
          <p:nvPr/>
        </p:nvCxnSpPr>
        <p:spPr>
          <a:xfrm flipH="1">
            <a:off x="4314987" y="5677748"/>
            <a:ext cx="1269987" cy="35620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xmlns="" id="{B32CD1AD-CC6F-1D96-E873-3B763F678727}"/>
              </a:ext>
            </a:extLst>
          </p:cNvPr>
          <p:cNvCxnSpPr>
            <a:cxnSpLocks/>
            <a:stCxn id="17" idx="1"/>
            <a:endCxn id="18" idx="7"/>
          </p:cNvCxnSpPr>
          <p:nvPr/>
        </p:nvCxnSpPr>
        <p:spPr>
          <a:xfrm flipH="1">
            <a:off x="5153470" y="5677748"/>
            <a:ext cx="431504" cy="48284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8" name="Arrow: Down 77">
            <a:extLst>
              <a:ext uri="{FF2B5EF4-FFF2-40B4-BE49-F238E27FC236}">
                <a16:creationId xmlns:a16="http://schemas.microsoft.com/office/drawing/2014/main" xmlns="" id="{55944626-C838-0BAF-D9DA-AE20561A6BD5}"/>
              </a:ext>
            </a:extLst>
          </p:cNvPr>
          <p:cNvSpPr/>
          <p:nvPr/>
        </p:nvSpPr>
        <p:spPr>
          <a:xfrm>
            <a:off x="1552065" y="2506658"/>
            <a:ext cx="269115" cy="3508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Date Placeholder 79">
            <a:extLst>
              <a:ext uri="{FF2B5EF4-FFF2-40B4-BE49-F238E27FC236}">
                <a16:creationId xmlns:a16="http://schemas.microsoft.com/office/drawing/2014/main" xmlns="" id="{39B12668-DABE-0B06-BAEB-73C9D6959F7A}"/>
              </a:ext>
            </a:extLst>
          </p:cNvPr>
          <p:cNvSpPr>
            <a:spLocks noGrp="1"/>
          </p:cNvSpPr>
          <p:nvPr>
            <p:ph type="dt" sz="half" idx="10"/>
          </p:nvPr>
        </p:nvSpPr>
        <p:spPr/>
        <p:txBody>
          <a:bodyPr/>
          <a:lstStyle/>
          <a:p>
            <a:fld id="{E94464B3-55D3-45D7-888D-4142FE17D286}"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82" name="Graphic 81" descr="Web cam">
            <a:extLst>
              <a:ext uri="{FF2B5EF4-FFF2-40B4-BE49-F238E27FC236}">
                <a16:creationId xmlns:a16="http://schemas.microsoft.com/office/drawing/2014/main" xmlns="" id="{558731F8-067C-3FEF-3A32-DFF4BA486F8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3587582" y="1466842"/>
            <a:ext cx="914400" cy="914400"/>
          </a:xfrm>
          <a:prstGeom prst="rect">
            <a:avLst/>
          </a:prstGeom>
        </p:spPr>
      </p:pic>
    </p:spTree>
    <p:extLst>
      <p:ext uri="{BB962C8B-B14F-4D97-AF65-F5344CB8AC3E}">
        <p14:creationId xmlns:p14="http://schemas.microsoft.com/office/powerpoint/2010/main" val="165906028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CFF54F-670C-E7B2-61AC-91C4ECC0C53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xmlns="" id="{16F929B4-776D-A8B4-4F34-4BD2BB45ED46}"/>
              </a:ext>
            </a:extLst>
          </p:cNvPr>
          <p:cNvSpPr>
            <a:spLocks noGrp="1"/>
          </p:cNvSpPr>
          <p:nvPr>
            <p:ph idx="1"/>
          </p:nvPr>
        </p:nvSpPr>
        <p:spPr/>
        <p:txBody>
          <a:bodyPr/>
          <a:lstStyle/>
          <a:p>
            <a:r>
              <a:rPr lang="en-US" dirty="0"/>
              <a:t> </a:t>
            </a:r>
            <a:r>
              <a:rPr lang="en-US" sz="2400" dirty="0">
                <a:latin typeface="Times New Roman" panose="02020603050405020304" pitchFamily="18" charset="0"/>
                <a:cs typeface="Times New Roman" panose="02020603050405020304" pitchFamily="18" charset="0"/>
              </a:rPr>
              <a:t>To integrate the hardware USB camera with the software dependencies.</a:t>
            </a:r>
          </a:p>
          <a:p>
            <a:r>
              <a:rPr lang="en-US" sz="2400" dirty="0">
                <a:latin typeface="Times New Roman" panose="02020603050405020304" pitchFamily="18" charset="0"/>
                <a:cs typeface="Times New Roman" panose="02020603050405020304" pitchFamily="18" charset="0"/>
              </a:rPr>
              <a:t>Capture individual frames from the live video stream.</a:t>
            </a:r>
          </a:p>
          <a:p>
            <a:r>
              <a:rPr lang="en-US" sz="2400" dirty="0">
                <a:latin typeface="Times New Roman" panose="02020603050405020304" pitchFamily="18" charset="0"/>
                <a:cs typeface="Times New Roman" panose="02020603050405020304" pitchFamily="18" charset="0"/>
              </a:rPr>
              <a:t>Each frame is passed through the hand detector model to detect the hand.</a:t>
            </a:r>
          </a:p>
          <a:p>
            <a:r>
              <a:rPr lang="en-US" sz="2400" dirty="0">
                <a:latin typeface="Times New Roman" panose="02020603050405020304" pitchFamily="18" charset="0"/>
                <a:cs typeface="Times New Roman" panose="02020603050405020304" pitchFamily="18" charset="0"/>
              </a:rPr>
              <a:t> A blob is formed around the hand and is then passed through the fingertip detector model to identify the fingertips.</a:t>
            </a:r>
          </a:p>
          <a:p>
            <a:r>
              <a:rPr lang="en-US" sz="2400" dirty="0">
                <a:latin typeface="Times New Roman" panose="02020603050405020304" pitchFamily="18" charset="0"/>
                <a:cs typeface="Times New Roman" panose="02020603050405020304" pitchFamily="18" charset="0"/>
              </a:rPr>
              <a:t>Visual smart board operations are performed based on the writing functionality using write, erase, clean and move.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E15F090-46A9-8CB0-63BF-7420E828FEA8}"/>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10</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62D070B1-263E-110B-C3CD-E8E120EC01AD}"/>
              </a:ext>
            </a:extLst>
          </p:cNvPr>
          <p:cNvPicPr>
            <a:picLocks noChangeAspect="1"/>
          </p:cNvPicPr>
          <p:nvPr/>
        </p:nvPicPr>
        <p:blipFill>
          <a:blip r:embed="rId3"/>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95211448-C273-57F0-A954-7904236F67B8}"/>
              </a:ext>
            </a:extLst>
          </p:cNvPr>
          <p:cNvSpPr>
            <a:spLocks noGrp="1"/>
          </p:cNvSpPr>
          <p:nvPr>
            <p:ph type="dt" sz="half" idx="10"/>
          </p:nvPr>
        </p:nvSpPr>
        <p:spPr/>
        <p:txBody>
          <a:bodyPr/>
          <a:lstStyle/>
          <a:p>
            <a:fld id="{90754C49-CEE7-4483-A12D-F3C2F9E52372}"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37040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3514"/>
            <a:ext cx="10515600" cy="1325563"/>
          </a:xfrm>
        </p:spPr>
        <p:txBody>
          <a:bodyPr>
            <a:normAutofit/>
          </a:bodyPr>
          <a:lstStyle/>
          <a:p>
            <a:r>
              <a:rPr lang="en-US" dirty="0">
                <a:latin typeface="Times New Roman" panose="02020603050405020304" pitchFamily="18" charset="0"/>
                <a:cs typeface="Times New Roman" panose="02020603050405020304" pitchFamily="18" charset="0"/>
              </a:rPr>
              <a:t>Requirements and Proposed Budget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Hardware Requirements</a:t>
            </a:r>
          </a:p>
          <a:p>
            <a:r>
              <a:rPr lang="en-US" sz="2400" dirty="0">
                <a:latin typeface="Times New Roman" panose="02020603050405020304" pitchFamily="18" charset="0"/>
                <a:cs typeface="Times New Roman" panose="02020603050405020304" pitchFamily="18" charset="0"/>
              </a:rPr>
              <a:t>System with GPU compatibility and Integrated Camera </a:t>
            </a:r>
          </a:p>
          <a:p>
            <a:pPr marL="0" indent="0">
              <a:buNone/>
            </a:pPr>
            <a:r>
              <a:rPr lang="en-US" sz="2400" dirty="0">
                <a:latin typeface="Times New Roman" panose="02020603050405020304" pitchFamily="18" charset="0"/>
                <a:cs typeface="Times New Roman" panose="02020603050405020304" pitchFamily="18" charset="0"/>
              </a:rPr>
              <a:t>Software Requirements</a:t>
            </a:r>
          </a:p>
          <a:p>
            <a:r>
              <a:rPr lang="en-US" sz="2400" dirty="0">
                <a:latin typeface="Times New Roman" panose="02020603050405020304" pitchFamily="18" charset="0"/>
                <a:cs typeface="Times New Roman" panose="02020603050405020304" pitchFamily="18" charset="0"/>
              </a:rPr>
              <a:t>Any OS</a:t>
            </a:r>
          </a:p>
          <a:p>
            <a:r>
              <a:rPr lang="en-US" sz="2400" dirty="0">
                <a:latin typeface="Times New Roman" panose="02020603050405020304" pitchFamily="18" charset="0"/>
                <a:cs typeface="Times New Roman" panose="02020603050405020304" pitchFamily="18" charset="0"/>
              </a:rPr>
              <a:t>Spyder(Python Interpreter)</a:t>
            </a:r>
          </a:p>
          <a:p>
            <a:r>
              <a:rPr lang="en-US" sz="2400" dirty="0">
                <a:latin typeface="Times New Roman" panose="02020603050405020304" pitchFamily="18" charset="0"/>
                <a:cs typeface="Times New Roman" panose="02020603050405020304" pitchFamily="18" charset="0"/>
              </a:rPr>
              <a:t>Libraries – NumPy, Tensorflow-keras, Opencv</a:t>
            </a:r>
          </a:p>
          <a:p>
            <a:r>
              <a:rPr lang="en-US" sz="2400" dirty="0">
                <a:latin typeface="Times New Roman" panose="02020603050405020304" pitchFamily="18" charset="0"/>
                <a:cs typeface="Times New Roman" panose="02020603050405020304" pitchFamily="18" charset="0"/>
              </a:rPr>
              <a:t>YOLO, VGG </a:t>
            </a:r>
            <a:r>
              <a:rPr lang="en-US" sz="2400" dirty="0" smtClean="0">
                <a:latin typeface="Times New Roman" panose="02020603050405020304" pitchFamily="18" charset="0"/>
                <a:cs typeface="Times New Roman" panose="02020603050405020304" pitchFamily="18" charset="0"/>
              </a:rPr>
              <a:t>Algorithms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8">
            <a:extLst>
              <a:ext uri="{FF2B5EF4-FFF2-40B4-BE49-F238E27FC236}">
                <a16:creationId xmlns:a16="http://schemas.microsoft.com/office/drawing/2014/main" xmlns="" id="{07120780-860D-7AE5-DD4D-F3F34230C56D}"/>
              </a:ext>
            </a:extLst>
          </p:cNvPr>
          <p:cNvSpPr>
            <a:spLocks noGrp="1"/>
          </p:cNvSpPr>
          <p:nvPr>
            <p:ph type="sldNum" sz="quarter" idx="12"/>
          </p:nvPr>
        </p:nvSpPr>
        <p:spPr>
          <a:xfrm>
            <a:off x="8610600" y="6364739"/>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11</a:t>
            </a:fld>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4016C0D4-6253-6375-36B0-9A4743E6D711}"/>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EAABACC2-E656-ADB2-5B9E-3C1ABAF4D440}"/>
              </a:ext>
            </a:extLst>
          </p:cNvPr>
          <p:cNvSpPr>
            <a:spLocks noGrp="1"/>
          </p:cNvSpPr>
          <p:nvPr>
            <p:ph type="dt" sz="half" idx="10"/>
          </p:nvPr>
        </p:nvSpPr>
        <p:spPr/>
        <p:txBody>
          <a:bodyPr/>
          <a:lstStyle/>
          <a:p>
            <a:fld id="{3B12ABC4-B23E-4539-95AE-F98FC1816E1E}"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12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C4A559-AA66-5C74-3F4D-1443DDFA7C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Research Progress </a:t>
            </a:r>
          </a:p>
        </p:txBody>
      </p:sp>
      <p:sp>
        <p:nvSpPr>
          <p:cNvPr id="4" name="Slide Number Placeholder 3">
            <a:extLst>
              <a:ext uri="{FF2B5EF4-FFF2-40B4-BE49-F238E27FC236}">
                <a16:creationId xmlns:a16="http://schemas.microsoft.com/office/drawing/2014/main" xmlns="" id="{7A37C95B-B450-1676-BC23-780B786508DF}"/>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12</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3F9F44EB-51DB-5F64-A7D5-B21A001754BD}"/>
              </a:ext>
            </a:extLst>
          </p:cNvPr>
          <p:cNvPicPr>
            <a:picLocks noChangeAspect="1"/>
          </p:cNvPicPr>
          <p:nvPr/>
        </p:nvPicPr>
        <p:blipFill>
          <a:blip r:embed="rId2"/>
          <a:stretch>
            <a:fillRect/>
          </a:stretch>
        </p:blipFill>
        <p:spPr>
          <a:xfrm>
            <a:off x="9974510" y="136525"/>
            <a:ext cx="2217490" cy="809084"/>
          </a:xfrm>
          <a:prstGeom prst="rect">
            <a:avLst/>
          </a:prstGeom>
        </p:spPr>
      </p:pic>
      <p:sp>
        <p:nvSpPr>
          <p:cNvPr id="9" name="Content Placeholder 8">
            <a:extLst>
              <a:ext uri="{FF2B5EF4-FFF2-40B4-BE49-F238E27FC236}">
                <a16:creationId xmlns:a16="http://schemas.microsoft.com/office/drawing/2014/main" xmlns="" id="{55F3EB67-BC0C-23AF-D8EC-D21DD657D52F}"/>
              </a:ext>
            </a:extLst>
          </p:cNvPr>
          <p:cNvSpPr>
            <a:spLocks noGrp="1"/>
          </p:cNvSpPr>
          <p:nvPr>
            <p:ph idx="1"/>
          </p:nvPr>
        </p:nvSpPr>
        <p:spPr>
          <a:xfrm>
            <a:off x="838200" y="1475310"/>
            <a:ext cx="10515600" cy="4351338"/>
          </a:xfrm>
        </p:spPr>
        <p:txBody>
          <a:bodyPr>
            <a:normAutofit/>
          </a:bodyPr>
          <a:lstStyle/>
          <a:p>
            <a:r>
              <a:rPr lang="en-US" dirty="0"/>
              <a:t>Review1</a:t>
            </a:r>
          </a:p>
          <a:p>
            <a:pPr lvl="1">
              <a:buFont typeface="Wingdings" pitchFamily="2" charset="2"/>
              <a:buChar char="§"/>
            </a:pPr>
            <a:r>
              <a:rPr lang="en-US" dirty="0"/>
              <a:t>Research study on hand motion recognition and fingers pointer movement </a:t>
            </a:r>
          </a:p>
          <a:p>
            <a:pPr lvl="1">
              <a:buFont typeface="Wingdings" pitchFamily="2" charset="2"/>
              <a:buChar char="§"/>
            </a:pPr>
            <a:r>
              <a:rPr lang="en-US" dirty="0"/>
              <a:t>Implementation of hand detection in real-time.</a:t>
            </a:r>
          </a:p>
          <a:p>
            <a:pPr>
              <a:buFont typeface="Wingdings" pitchFamily="2" charset="2"/>
              <a:buChar char="§"/>
            </a:pPr>
            <a:r>
              <a:rPr lang="en-US" dirty="0"/>
              <a:t>Review 2</a:t>
            </a:r>
          </a:p>
          <a:p>
            <a:pPr lvl="1">
              <a:buFont typeface="Wingdings" pitchFamily="2" charset="2"/>
              <a:buChar char="§"/>
            </a:pPr>
            <a:r>
              <a:rPr lang="en-US" dirty="0"/>
              <a:t>Implementation of fingertip detection in real-time</a:t>
            </a:r>
          </a:p>
          <a:p>
            <a:pPr lvl="1">
              <a:buFont typeface="Wingdings" pitchFamily="2" charset="2"/>
              <a:buChar char="§"/>
            </a:pPr>
            <a:r>
              <a:rPr lang="en-US" dirty="0"/>
              <a:t>Execution of hand in motion and fingers detection in real-time.</a:t>
            </a:r>
          </a:p>
          <a:p>
            <a:pPr>
              <a:buFont typeface="Wingdings" pitchFamily="2" charset="2"/>
              <a:buChar char="§"/>
            </a:pPr>
            <a:r>
              <a:rPr lang="en-US" dirty="0"/>
              <a:t>Review 3</a:t>
            </a:r>
          </a:p>
          <a:p>
            <a:pPr lvl="1">
              <a:buFont typeface="Wingdings" pitchFamily="2" charset="2"/>
              <a:buChar char="§"/>
            </a:pPr>
            <a:r>
              <a:rPr lang="en-US" dirty="0"/>
              <a:t>Develop the Interactive smart board and the writing function with the finger.</a:t>
            </a:r>
          </a:p>
          <a:p>
            <a:pPr lvl="1">
              <a:buFont typeface="Wingdings" pitchFamily="2" charset="2"/>
              <a:buChar char="§"/>
            </a:pPr>
            <a:r>
              <a:rPr lang="en-US" dirty="0"/>
              <a:t>Paper writing &amp; Results in real-time and future works</a:t>
            </a:r>
          </a:p>
        </p:txBody>
      </p:sp>
      <p:sp>
        <p:nvSpPr>
          <p:cNvPr id="12" name="Date Placeholder 11">
            <a:extLst>
              <a:ext uri="{FF2B5EF4-FFF2-40B4-BE49-F238E27FC236}">
                <a16:creationId xmlns:a16="http://schemas.microsoft.com/office/drawing/2014/main" xmlns="" id="{BBE7ACFE-E869-8966-175F-FD810E8F4E6A}"/>
              </a:ext>
            </a:extLst>
          </p:cNvPr>
          <p:cNvSpPr>
            <a:spLocks noGrp="1"/>
          </p:cNvSpPr>
          <p:nvPr>
            <p:ph type="dt" sz="half" idx="10"/>
          </p:nvPr>
        </p:nvSpPr>
        <p:spPr/>
        <p:txBody>
          <a:bodyPr/>
          <a:lstStyle/>
          <a:p>
            <a:fld id="{07BC1F24-C7F5-403D-9F18-017C71103803}"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712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IN" dirty="0"/>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94A90A59-2CF8-44AF-86F4-85AC6E5AF0D9}" type="datetime4">
              <a:rPr lang="en-IN" smtClean="0"/>
              <a:t>13 February 2023</a:t>
            </a:fld>
            <a:endParaRPr lang="en-IN" dirty="0"/>
          </a:p>
        </p:txBody>
      </p:sp>
      <p:sp>
        <p:nvSpPr>
          <p:cNvPr id="5" name="Slide Number Placeholder 4"/>
          <p:cNvSpPr>
            <a:spLocks noGrp="1"/>
          </p:cNvSpPr>
          <p:nvPr>
            <p:ph type="sldNum" sz="quarter" idx="12"/>
          </p:nvPr>
        </p:nvSpPr>
        <p:spPr/>
        <p:txBody>
          <a:bodyPr/>
          <a:lstStyle/>
          <a:p>
            <a:fld id="{B2E42496-0DFE-461C-AEF9-E32CAB4F9D3D}" type="slidenum">
              <a:rPr lang="en-IN" smtClean="0"/>
              <a:t>13</a:t>
            </a:fld>
            <a:endParaRPr lang="en-IN" dirty="0"/>
          </a:p>
        </p:txBody>
      </p:sp>
    </p:spTree>
    <p:extLst>
      <p:ext uri="{BB962C8B-B14F-4D97-AF65-F5344CB8AC3E}">
        <p14:creationId xmlns:p14="http://schemas.microsoft.com/office/powerpoint/2010/main" val="91445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9E6741-7871-1FD4-C4E3-8BBBDB9334E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Application</a:t>
            </a:r>
          </a:p>
        </p:txBody>
      </p:sp>
      <p:sp>
        <p:nvSpPr>
          <p:cNvPr id="3" name="Content Placeholder 2">
            <a:extLst>
              <a:ext uri="{FF2B5EF4-FFF2-40B4-BE49-F238E27FC236}">
                <a16:creationId xmlns:a16="http://schemas.microsoft.com/office/drawing/2014/main" xmlns="" id="{9D6E79A0-AD2E-7FEC-8975-B58984728A31}"/>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framework can be utilized as a teaching mechanism without much hassle and technical issues.</a:t>
            </a:r>
          </a:p>
          <a:p>
            <a:pPr algn="just"/>
            <a:r>
              <a:rPr lang="en-US" dirty="0">
                <a:latin typeface="Times New Roman" panose="02020603050405020304" pitchFamily="18" charset="0"/>
                <a:cs typeface="Times New Roman" panose="02020603050405020304" pitchFamily="18" charset="0"/>
              </a:rPr>
              <a:t>Can be utilized by both student and teacher in online virtual class to keep it engaging.</a:t>
            </a:r>
          </a:p>
          <a:p>
            <a:pPr algn="just"/>
            <a:r>
              <a:rPr lang="en-US" dirty="0">
                <a:latin typeface="Times New Roman" panose="02020603050405020304" pitchFamily="18" charset="0"/>
                <a:cs typeface="Times New Roman" panose="02020603050405020304" pitchFamily="18" charset="0"/>
              </a:rPr>
              <a:t>The framework can be developed to create a virtual one-to-one smart board to convey and interact more effectively.</a:t>
            </a:r>
          </a:p>
        </p:txBody>
      </p:sp>
      <p:sp>
        <p:nvSpPr>
          <p:cNvPr id="4" name="Slide Number Placeholder 3">
            <a:extLst>
              <a:ext uri="{FF2B5EF4-FFF2-40B4-BE49-F238E27FC236}">
                <a16:creationId xmlns:a16="http://schemas.microsoft.com/office/drawing/2014/main" xmlns="" id="{C6FFBC09-8140-BB8D-25E6-07AFCD1A4787}"/>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14</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FC5400E8-F1BB-2A15-85CC-3B3BB5847B58}"/>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87CA5A1E-7946-5557-2BCD-1665C8A2A45B}"/>
              </a:ext>
            </a:extLst>
          </p:cNvPr>
          <p:cNvSpPr>
            <a:spLocks noGrp="1"/>
          </p:cNvSpPr>
          <p:nvPr>
            <p:ph type="dt" sz="half" idx="10"/>
          </p:nvPr>
        </p:nvSpPr>
        <p:spPr/>
        <p:txBody>
          <a:bodyPr/>
          <a:lstStyle/>
          <a:p>
            <a:fld id="{043DA8EA-A9F8-456E-9669-3F7053360998}"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57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D7E5AD-82A7-257A-3ED9-5BF91E4A3AF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xmlns="" id="{51CC8F39-3234-6120-677F-94CCC30A7C77}"/>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Integration of the hand detection framework with the finger tip detection model.</a:t>
            </a:r>
          </a:p>
          <a:p>
            <a:pPr algn="just"/>
            <a:r>
              <a:rPr lang="en-IN" dirty="0">
                <a:latin typeface="Times New Roman" panose="02020603050405020304" pitchFamily="18" charset="0"/>
                <a:cs typeface="Times New Roman" panose="02020603050405020304" pitchFamily="18" charset="0"/>
              </a:rPr>
              <a:t>To develop the control logic for the writing functionality using fingers.</a:t>
            </a:r>
          </a:p>
          <a:p>
            <a:pPr algn="just"/>
            <a:r>
              <a:rPr lang="en-IN" dirty="0">
                <a:latin typeface="Times New Roman" panose="02020603050405020304" pitchFamily="18" charset="0"/>
                <a:cs typeface="Times New Roman" panose="02020603050405020304" pitchFamily="18" charset="0"/>
              </a:rPr>
              <a:t>To design the front-end(Virtual Smart Board)</a:t>
            </a:r>
          </a:p>
          <a:p>
            <a:pPr algn="just"/>
            <a:r>
              <a:rPr lang="en-IN" dirty="0">
                <a:latin typeface="Times New Roman" panose="02020603050405020304" pitchFamily="18" charset="0"/>
                <a:cs typeface="Times New Roman" panose="02020603050405020304" pitchFamily="18" charset="0"/>
              </a:rPr>
              <a:t>To integrate front-end with the writing functionality to have free-style writing.</a:t>
            </a:r>
          </a:p>
          <a:p>
            <a:pPr algn="just"/>
            <a:endParaRPr lang="en-IN" dirty="0"/>
          </a:p>
        </p:txBody>
      </p:sp>
      <p:sp>
        <p:nvSpPr>
          <p:cNvPr id="4" name="Slide Number Placeholder 3">
            <a:extLst>
              <a:ext uri="{FF2B5EF4-FFF2-40B4-BE49-F238E27FC236}">
                <a16:creationId xmlns:a16="http://schemas.microsoft.com/office/drawing/2014/main" xmlns="" id="{83353B11-5608-D96A-158B-6A37F558E6C5}"/>
              </a:ext>
            </a:extLst>
          </p:cNvPr>
          <p:cNvSpPr>
            <a:spLocks noGrp="1"/>
          </p:cNvSpPr>
          <p:nvPr>
            <p:ph type="sldNum" sz="quarter" idx="12"/>
          </p:nvPr>
        </p:nvSpPr>
        <p:spPr/>
        <p:txBody>
          <a:bodyPr/>
          <a:lstStyle/>
          <a:p>
            <a:fld id="{B2E42496-0DFE-461C-AEF9-E32CAB4F9D3D}" type="slidenum">
              <a:rPr lang="en-IN" sz="1800">
                <a:solidFill>
                  <a:schemeClr val="tx1"/>
                </a:solidFill>
                <a:latin typeface="Times New Roman" panose="02020603050405020304" pitchFamily="18" charset="0"/>
                <a:cs typeface="Times New Roman" panose="02020603050405020304" pitchFamily="18" charset="0"/>
              </a:rPr>
              <a:t>15</a:t>
            </a:fld>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D2BE65C3-9A39-0610-EAE3-0E3DDFC78E61}"/>
              </a:ext>
            </a:extLst>
          </p:cNvPr>
          <p:cNvPicPr>
            <a:picLocks noChangeAspect="1"/>
          </p:cNvPicPr>
          <p:nvPr/>
        </p:nvPicPr>
        <p:blipFill>
          <a:blip r:embed="rId2"/>
          <a:stretch>
            <a:fillRect/>
          </a:stretch>
        </p:blipFill>
        <p:spPr>
          <a:xfrm>
            <a:off x="9974510" y="136525"/>
            <a:ext cx="2217490" cy="809084"/>
          </a:xfrm>
          <a:prstGeom prst="rect">
            <a:avLst/>
          </a:prstGeom>
        </p:spPr>
      </p:pic>
      <p:sp>
        <p:nvSpPr>
          <p:cNvPr id="7" name="Date Placeholder 6">
            <a:extLst>
              <a:ext uri="{FF2B5EF4-FFF2-40B4-BE49-F238E27FC236}">
                <a16:creationId xmlns:a16="http://schemas.microsoft.com/office/drawing/2014/main" xmlns="" id="{EAC9B37D-75ED-0966-507D-6DF2BDD6C6E2}"/>
              </a:ext>
            </a:extLst>
          </p:cNvPr>
          <p:cNvSpPr>
            <a:spLocks noGrp="1"/>
          </p:cNvSpPr>
          <p:nvPr>
            <p:ph type="dt" sz="half" idx="10"/>
          </p:nvPr>
        </p:nvSpPr>
        <p:spPr/>
        <p:txBody>
          <a:bodyPr/>
          <a:lstStyle/>
          <a:p>
            <a:fld id="{69DD5BAE-3E82-40E3-8FE3-7F0ACC487F2F}"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339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4" name="Slide Number Placeholder 8">
            <a:extLst>
              <a:ext uri="{FF2B5EF4-FFF2-40B4-BE49-F238E27FC236}">
                <a16:creationId xmlns:a16="http://schemas.microsoft.com/office/drawing/2014/main" xmlns="" id="{234C9463-CB8A-32A7-F6D3-58F63BDFD600}"/>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16</a:t>
            </a:fld>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89B752E2-2C93-74B7-7567-BA4C0DB728BA}"/>
              </a:ext>
            </a:extLst>
          </p:cNvPr>
          <p:cNvSpPr txBox="1"/>
          <p:nvPr/>
        </p:nvSpPr>
        <p:spPr>
          <a:xfrm>
            <a:off x="838200" y="1870474"/>
            <a:ext cx="10067488" cy="4401205"/>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Bandini, J. Zariffa, Analysis of the hands in egocentric vision: A survey, IEEE Transactions on Pattern Analysis and Machine Intelligence (2020) 1–20doi:10.1109/TPAMI.2020.2986648</a:t>
            </a:r>
            <a:r>
              <a:rPr lang="en-US" sz="2000" dirty="0" smtClean="0">
                <a:latin typeface="Times New Roman" panose="02020603050405020304" pitchFamily="18" charset="0"/>
                <a:cs typeface="Times New Roman" panose="02020603050405020304" pitchFamily="18" charset="0"/>
              </a:rPr>
              <a:t>.</a:t>
            </a:r>
          </a:p>
          <a:p>
            <a:pPr marL="342900" indent="-342900">
              <a:buFont typeface="Arial" pitchFamily="34" charset="0"/>
              <a:buChar char="•"/>
            </a:pPr>
            <a:r>
              <a:rPr lang="en-IN" sz="2000" dirty="0"/>
              <a:t>Hand Detection with Convolutional Neural Networks: A Comparative Study, K. K. </a:t>
            </a:r>
            <a:r>
              <a:rPr lang="en-IN" sz="2000" dirty="0" err="1"/>
              <a:t>Istiak</a:t>
            </a:r>
            <a:r>
              <a:rPr lang="en-IN" sz="2000" dirty="0"/>
              <a:t>, M. </a:t>
            </a:r>
            <a:r>
              <a:rPr lang="en-IN" sz="2000" dirty="0" err="1"/>
              <a:t>Shafait</a:t>
            </a:r>
            <a:r>
              <a:rPr lang="en-IN" sz="2000" dirty="0"/>
              <a:t>, T. M. </a:t>
            </a:r>
            <a:r>
              <a:rPr lang="en-IN" sz="2000" dirty="0" err="1"/>
              <a:t>Breuel</a:t>
            </a:r>
            <a:r>
              <a:rPr lang="en-IN" sz="2000" dirty="0"/>
              <a:t>, IEEE Transactions on Image Processing, 2018.</a:t>
            </a:r>
          </a:p>
          <a:p>
            <a:pPr marL="342900" indent="-342900">
              <a:buFont typeface="Arial" pitchFamily="34" charset="0"/>
              <a:buChar char="•"/>
            </a:pPr>
            <a:r>
              <a:rPr lang="en-IN" sz="2000" dirty="0"/>
              <a:t>A Survey of Deep Learning-Based Hand Detection Approaches, H. Kamal, M. Z. </a:t>
            </a:r>
            <a:r>
              <a:rPr lang="en-IN" sz="2000" dirty="0" err="1"/>
              <a:t>Hasan</a:t>
            </a:r>
            <a:r>
              <a:rPr lang="en-IN" sz="2000" dirty="0"/>
              <a:t>, M. R. Islam, E. </a:t>
            </a:r>
            <a:r>
              <a:rPr lang="en-IN" sz="2000" dirty="0" err="1"/>
              <a:t>Hoque</a:t>
            </a:r>
            <a:r>
              <a:rPr lang="en-IN" sz="2000" dirty="0"/>
              <a:t>, Sensors, 2019.</a:t>
            </a:r>
          </a:p>
          <a:p>
            <a:pPr marL="342900" indent="-342900">
              <a:buFont typeface="Arial" pitchFamily="34" charset="0"/>
              <a:buChar char="•"/>
            </a:pPr>
            <a:r>
              <a:rPr lang="en-IN" sz="2000" dirty="0" err="1"/>
              <a:t>EgoHands</a:t>
            </a:r>
            <a:r>
              <a:rPr lang="en-IN" sz="2000" dirty="0"/>
              <a:t>: A Large Dataset for egocentric hand detection and segmentation, S. </a:t>
            </a:r>
            <a:r>
              <a:rPr lang="en-IN" sz="2000" dirty="0" err="1"/>
              <a:t>Mital</a:t>
            </a:r>
            <a:r>
              <a:rPr lang="en-IN" sz="2000" dirty="0"/>
              <a:t>, R. N. </a:t>
            </a:r>
            <a:r>
              <a:rPr lang="en-IN" sz="2000" dirty="0" err="1"/>
              <a:t>Jha</a:t>
            </a:r>
            <a:r>
              <a:rPr lang="en-IN" sz="2000" dirty="0"/>
              <a:t>, Proceedings of the IEEE Conference on Computer Vision and Pattern Recognition Workshops, 2015.</a:t>
            </a:r>
          </a:p>
          <a:p>
            <a:pPr marL="342900" indent="-342900">
              <a:buFont typeface="Arial" pitchFamily="34" charset="0"/>
              <a:buChar char="•"/>
            </a:pPr>
            <a:r>
              <a:rPr lang="en-IN" sz="2000" dirty="0"/>
              <a:t>Hand Detection in Complex Scenes Using Deep Convolutional Neural Networks, T. </a:t>
            </a:r>
            <a:r>
              <a:rPr lang="en-IN" sz="2000" dirty="0" err="1"/>
              <a:t>Kundu</a:t>
            </a:r>
            <a:r>
              <a:rPr lang="en-IN" sz="2000" dirty="0"/>
              <a:t>, S. Pal, A. </a:t>
            </a:r>
            <a:r>
              <a:rPr lang="en-IN" sz="2000" dirty="0" err="1"/>
              <a:t>Ghosh</a:t>
            </a:r>
            <a:r>
              <a:rPr lang="en-IN" sz="2000" dirty="0"/>
              <a:t>, Proceedings of the IEEE Conference on Computer Vision and Pattern Recognition Workshops, 2018.</a:t>
            </a:r>
          </a:p>
          <a:p>
            <a:pPr marL="342900" indent="-342900">
              <a:buFont typeface="Arial" pitchFamily="34" charset="0"/>
              <a:buChar char="•"/>
            </a:pPr>
            <a:r>
              <a:rPr lang="en-IN" sz="2000" dirty="0"/>
              <a:t>Deep Learning-Based Hand Detection in Egocentric Vision, A. R. G. Sánchez, R. F. </a:t>
            </a:r>
            <a:r>
              <a:rPr lang="en-IN" sz="2000" dirty="0" err="1"/>
              <a:t>Berriel</a:t>
            </a:r>
            <a:r>
              <a:rPr lang="en-IN" sz="2000" dirty="0"/>
              <a:t>, J. R. González, Proceedings of the International Joint Conference on Neural Networks, 2019</a:t>
            </a:r>
            <a:r>
              <a:rPr lang="en-IN" sz="2000" dirty="0" smtClean="0"/>
              <a:t>.</a:t>
            </a:r>
            <a:endParaRPr lang="en-IN" sz="2000" dirty="0"/>
          </a:p>
        </p:txBody>
      </p:sp>
      <p:pic>
        <p:nvPicPr>
          <p:cNvPr id="9" name="Picture 8">
            <a:extLst>
              <a:ext uri="{FF2B5EF4-FFF2-40B4-BE49-F238E27FC236}">
                <a16:creationId xmlns:a16="http://schemas.microsoft.com/office/drawing/2014/main" xmlns="" id="{2BFA79B7-CF57-6733-DAB9-47B360AB451C}"/>
              </a:ext>
            </a:extLst>
          </p:cNvPr>
          <p:cNvPicPr>
            <a:picLocks noChangeAspect="1"/>
          </p:cNvPicPr>
          <p:nvPr/>
        </p:nvPicPr>
        <p:blipFill>
          <a:blip r:embed="rId2"/>
          <a:stretch>
            <a:fillRect/>
          </a:stretch>
        </p:blipFill>
        <p:spPr>
          <a:xfrm>
            <a:off x="9974510" y="136525"/>
            <a:ext cx="2217490" cy="809084"/>
          </a:xfrm>
          <a:prstGeom prst="rect">
            <a:avLst/>
          </a:prstGeom>
        </p:spPr>
      </p:pic>
      <p:sp>
        <p:nvSpPr>
          <p:cNvPr id="5" name="Date Placeholder 4">
            <a:extLst>
              <a:ext uri="{FF2B5EF4-FFF2-40B4-BE49-F238E27FC236}">
                <a16:creationId xmlns:a16="http://schemas.microsoft.com/office/drawing/2014/main" xmlns="" id="{25C871AE-B69A-75FC-D628-FEF305560119}"/>
              </a:ext>
            </a:extLst>
          </p:cNvPr>
          <p:cNvSpPr>
            <a:spLocks noGrp="1"/>
          </p:cNvSpPr>
          <p:nvPr>
            <p:ph type="dt" sz="half" idx="10"/>
          </p:nvPr>
        </p:nvSpPr>
        <p:spPr/>
        <p:txBody>
          <a:bodyPr/>
          <a:lstStyle/>
          <a:p>
            <a:fld id="{57BCF36D-293E-45EF-B7F2-6360F099F839}"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93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4" name="Slide Number Placeholder 8">
            <a:extLst>
              <a:ext uri="{FF2B5EF4-FFF2-40B4-BE49-F238E27FC236}">
                <a16:creationId xmlns:a16="http://schemas.microsoft.com/office/drawing/2014/main" xmlns="" id="{234C9463-CB8A-32A7-F6D3-58F63BDFD600}"/>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17</a:t>
            </a:fld>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89B752E2-2C93-74B7-7567-BA4C0DB728BA}"/>
              </a:ext>
            </a:extLst>
          </p:cNvPr>
          <p:cNvSpPr txBox="1"/>
          <p:nvPr/>
        </p:nvSpPr>
        <p:spPr>
          <a:xfrm>
            <a:off x="838200" y="1870474"/>
            <a:ext cx="10067488" cy="4278094"/>
          </a:xfrm>
          <a:prstGeom prst="rect">
            <a:avLst/>
          </a:prstGeom>
          <a:noFill/>
        </p:spPr>
        <p:txBody>
          <a:bodyPr wrap="square">
            <a:spAutoFit/>
          </a:bodyPr>
          <a:lstStyle/>
          <a:p>
            <a:pPr marL="342900" indent="-342900">
              <a:buFont typeface="Arial" pitchFamily="34" charset="0"/>
              <a:buChar char="•"/>
            </a:pPr>
            <a:r>
              <a:rPr lang="en-IN" dirty="0"/>
              <a:t>A Two-Stage Hand Detection Approach for Egocentric Vision, D. G. Zhang, Y. X. Wang, X. F. Zhou, IEEE Transactions on Circuits and Systems for Video Technology, 2019.</a:t>
            </a:r>
          </a:p>
          <a:p>
            <a:pPr marL="342900" indent="-342900">
              <a:buFont typeface="Arial" pitchFamily="34" charset="0"/>
              <a:buChar char="•"/>
            </a:pPr>
            <a:r>
              <a:rPr lang="en-IN" dirty="0"/>
              <a:t>Fast and Accurate Hand Detection in Egocentric Videos, Z. H. Chen, Y. J. Wang, Y. H. Ma, Proceedings of the ACM on Multimedia Conference, 2018.</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 </a:t>
            </a:r>
            <a:r>
              <a:rPr lang="en-IN" dirty="0" err="1">
                <a:latin typeface="Times New Roman" panose="02020603050405020304" pitchFamily="18" charset="0"/>
                <a:cs typeface="Times New Roman" panose="02020603050405020304" pitchFamily="18" charset="0"/>
              </a:rPr>
              <a:t>Ren</a:t>
            </a:r>
            <a:r>
              <a:rPr lang="en-IN" dirty="0">
                <a:latin typeface="Times New Roman" panose="02020603050405020304" pitchFamily="18" charset="0"/>
                <a:cs typeface="Times New Roman" panose="02020603050405020304" pitchFamily="18" charset="0"/>
              </a:rPr>
              <a:t>, J. Yuan, J. </a:t>
            </a:r>
            <a:r>
              <a:rPr lang="en-IN" dirty="0" err="1">
                <a:latin typeface="Times New Roman" panose="02020603050405020304" pitchFamily="18" charset="0"/>
                <a:cs typeface="Times New Roman" panose="02020603050405020304" pitchFamily="18" charset="0"/>
              </a:rPr>
              <a:t>Meng</a:t>
            </a:r>
            <a:r>
              <a:rPr lang="en-IN" dirty="0">
                <a:latin typeface="Times New Roman" panose="02020603050405020304" pitchFamily="18" charset="0"/>
                <a:cs typeface="Times New Roman" panose="02020603050405020304" pitchFamily="18" charset="0"/>
              </a:rPr>
              <a:t>, Z. Zhang, Robust part-based hand gesture recognition using </a:t>
            </a:r>
            <a:r>
              <a:rPr lang="en-IN" dirty="0" err="1">
                <a:latin typeface="Times New Roman" panose="02020603050405020304" pitchFamily="18" charset="0"/>
                <a:cs typeface="Times New Roman" panose="02020603050405020304" pitchFamily="18" charset="0"/>
              </a:rPr>
              <a:t>kinect</a:t>
            </a:r>
            <a:r>
              <a:rPr lang="en-IN" dirty="0">
                <a:latin typeface="Times New Roman" panose="02020603050405020304" pitchFamily="18" charset="0"/>
                <a:cs typeface="Times New Roman" panose="02020603050405020304" pitchFamily="18" charset="0"/>
              </a:rPr>
              <a:t> sensor, IEEE Transactions on Multimedia 15 (5) (2013) 1110–1120.</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 Jain, R. </a:t>
            </a:r>
            <a:r>
              <a:rPr lang="en-IN" dirty="0" err="1">
                <a:latin typeface="Times New Roman" panose="02020603050405020304" pitchFamily="18" charset="0"/>
                <a:cs typeface="Times New Roman" panose="02020603050405020304" pitchFamily="18" charset="0"/>
              </a:rPr>
              <a:t>Hebbalaguppe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Airpen</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touchless</a:t>
            </a:r>
            <a:r>
              <a:rPr lang="en-IN" dirty="0">
                <a:latin typeface="Times New Roman" panose="02020603050405020304" pitchFamily="18" charset="0"/>
                <a:cs typeface="Times New Roman" panose="02020603050405020304" pitchFamily="18" charset="0"/>
              </a:rPr>
              <a:t> fingertip based gestural interface for smartphones and </a:t>
            </a:r>
            <a:r>
              <a:rPr lang="en-IN" dirty="0" err="1">
                <a:latin typeface="Times New Roman" panose="02020603050405020304" pitchFamily="18" charset="0"/>
                <a:cs typeface="Times New Roman" panose="02020603050405020304" pitchFamily="18" charset="0"/>
              </a:rPr>
              <a:t>headmounted</a:t>
            </a:r>
            <a:r>
              <a:rPr lang="en-IN" dirty="0">
                <a:latin typeface="Times New Roman" panose="02020603050405020304" pitchFamily="18" charset="0"/>
                <a:cs typeface="Times New Roman" panose="02020603050405020304" pitchFamily="18" charset="0"/>
              </a:rPr>
              <a:t> devices,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arXiv:1904.06122</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 Markopoulos, P. Markopoulos, N. </a:t>
            </a:r>
            <a:r>
              <a:rPr lang="en-IN" dirty="0" err="1">
                <a:latin typeface="Times New Roman" panose="02020603050405020304" pitchFamily="18" charset="0"/>
                <a:cs typeface="Times New Roman" panose="02020603050405020304" pitchFamily="18" charset="0"/>
              </a:rPr>
              <a:t>Laivuori</a:t>
            </a:r>
            <a:r>
              <a:rPr lang="en-IN" dirty="0">
                <a:latin typeface="Times New Roman" panose="02020603050405020304" pitchFamily="18" charset="0"/>
                <a:cs typeface="Times New Roman" panose="02020603050405020304" pitchFamily="18" charset="0"/>
              </a:rPr>
              <a:t>, C. </a:t>
            </a:r>
            <a:r>
              <a:rPr lang="en-IN" dirty="0" err="1">
                <a:latin typeface="Times New Roman" panose="02020603050405020304" pitchFamily="18" charset="0"/>
                <a:cs typeface="Times New Roman" panose="02020603050405020304" pitchFamily="18" charset="0"/>
              </a:rPr>
              <a:t>Moridis</a:t>
            </a:r>
            <a:r>
              <a:rPr lang="en-IN" dirty="0">
                <a:latin typeface="Times New Roman" panose="02020603050405020304" pitchFamily="18" charset="0"/>
                <a:cs typeface="Times New Roman" panose="02020603050405020304" pitchFamily="18" charset="0"/>
              </a:rPr>
              <a:t> and M. </a:t>
            </a:r>
            <a:r>
              <a:rPr lang="en-IN" dirty="0" err="1">
                <a:latin typeface="Times New Roman" panose="02020603050405020304" pitchFamily="18" charset="0"/>
                <a:cs typeface="Times New Roman" panose="02020603050405020304" pitchFamily="18" charset="0"/>
              </a:rPr>
              <a:t>Luimula</a:t>
            </a:r>
            <a:r>
              <a:rPr lang="en-IN" dirty="0">
                <a:latin typeface="Times New Roman" panose="02020603050405020304" pitchFamily="18" charset="0"/>
                <a:cs typeface="Times New Roman" panose="02020603050405020304" pitchFamily="18" charset="0"/>
              </a:rPr>
              <a:t>, "Finger tracking an   recognition technologies in virtual reality maritime safety training applications," 2020 11th IEEE International Conference on Cognitive </a:t>
            </a:r>
            <a:r>
              <a:rPr lang="en-IN" dirty="0" err="1">
                <a:latin typeface="Times New Roman" panose="02020603050405020304" pitchFamily="18" charset="0"/>
                <a:cs typeface="Times New Roman" panose="02020603050405020304" pitchFamily="18" charset="0"/>
              </a:rPr>
              <a:t>Infocommunications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CogInfoCom</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Mariehamn</a:t>
            </a:r>
            <a:r>
              <a:rPr lang="en-IN" dirty="0">
                <a:latin typeface="Times New Roman" panose="02020603050405020304" pitchFamily="18" charset="0"/>
                <a:cs typeface="Times New Roman" panose="02020603050405020304" pitchFamily="18" charset="0"/>
              </a:rPr>
              <a:t>, Finland, 2020, </a:t>
            </a:r>
            <a:endParaRPr lang="en-IN"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D</a:t>
            </a:r>
            <a:r>
              <a:rPr lang="en-IN" dirty="0">
                <a:latin typeface="Times New Roman" panose="02020603050405020304" pitchFamily="18" charset="0"/>
                <a:cs typeface="Times New Roman" panose="02020603050405020304" pitchFamily="18" charset="0"/>
              </a:rPr>
              <a:t>. Alamsyah, M. Fachrurrozi, Faster R-CNN with inception v2 for fingertip detection in the homogenous background image, in Journal of Physics: Conference Series, Vol. 1196, IOP Publishing, Palembang, Indonesia, 2019, p. </a:t>
            </a:r>
            <a:r>
              <a:rPr lang="en-IN" dirty="0" smtClean="0">
                <a:latin typeface="Times New Roman" panose="02020603050405020304" pitchFamily="18" charset="0"/>
                <a:cs typeface="Times New Roman" panose="02020603050405020304" pitchFamily="18" charset="0"/>
              </a:rPr>
              <a:t>012017</a:t>
            </a:r>
            <a:endParaRPr lang="en-IN" dirty="0"/>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2BFA79B7-CF57-6733-DAB9-47B360AB451C}"/>
              </a:ext>
            </a:extLst>
          </p:cNvPr>
          <p:cNvPicPr>
            <a:picLocks noChangeAspect="1"/>
          </p:cNvPicPr>
          <p:nvPr/>
        </p:nvPicPr>
        <p:blipFill>
          <a:blip r:embed="rId2"/>
          <a:stretch>
            <a:fillRect/>
          </a:stretch>
        </p:blipFill>
        <p:spPr>
          <a:xfrm>
            <a:off x="9974510" y="136525"/>
            <a:ext cx="2217490" cy="809084"/>
          </a:xfrm>
          <a:prstGeom prst="rect">
            <a:avLst/>
          </a:prstGeom>
        </p:spPr>
      </p:pic>
      <p:sp>
        <p:nvSpPr>
          <p:cNvPr id="5" name="Date Placeholder 4">
            <a:extLst>
              <a:ext uri="{FF2B5EF4-FFF2-40B4-BE49-F238E27FC236}">
                <a16:creationId xmlns:a16="http://schemas.microsoft.com/office/drawing/2014/main" xmlns="" id="{648AE77E-5691-1F0D-9EEB-D4D2BA2FA262}"/>
              </a:ext>
            </a:extLst>
          </p:cNvPr>
          <p:cNvSpPr>
            <a:spLocks noGrp="1"/>
          </p:cNvSpPr>
          <p:nvPr>
            <p:ph type="dt" sz="half" idx="10"/>
          </p:nvPr>
        </p:nvSpPr>
        <p:spPr/>
        <p:txBody>
          <a:bodyPr/>
          <a:lstStyle/>
          <a:p>
            <a:fld id="{78485FF7-E593-466D-B620-42C410E1EACD}"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55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4" name="Slide Number Placeholder 8">
            <a:extLst>
              <a:ext uri="{FF2B5EF4-FFF2-40B4-BE49-F238E27FC236}">
                <a16:creationId xmlns:a16="http://schemas.microsoft.com/office/drawing/2014/main" xmlns="" id="{234C9463-CB8A-32A7-F6D3-58F63BDFD600}"/>
              </a:ext>
            </a:extLst>
          </p:cNvPr>
          <p:cNvSpPr>
            <a:spLocks noGrp="1"/>
          </p:cNvSpPr>
          <p:nvPr>
            <p:ph type="sldNum" sz="quarter" idx="12"/>
          </p:nvPr>
        </p:nvSpPr>
        <p:spPr>
          <a:xfrm>
            <a:off x="8610600" y="6356350"/>
            <a:ext cx="2743200" cy="365125"/>
          </a:xfrm>
        </p:spPr>
        <p:txBody>
          <a:bodyPr/>
          <a:lstStyle/>
          <a:p>
            <a:fld id="{33109E70-C44C-4A24-A119-DA172329E108}" type="slidenum">
              <a:rPr lang="en-IN" sz="1800" smtClean="0">
                <a:solidFill>
                  <a:schemeClr val="tx1"/>
                </a:solidFill>
                <a:latin typeface="Times New Roman" panose="02020603050405020304" pitchFamily="18" charset="0"/>
                <a:cs typeface="Times New Roman" panose="02020603050405020304" pitchFamily="18" charset="0"/>
              </a:rPr>
              <a:t>18</a:t>
            </a:fld>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89B752E2-2C93-74B7-7567-BA4C0DB728BA}"/>
              </a:ext>
            </a:extLst>
          </p:cNvPr>
          <p:cNvSpPr txBox="1"/>
          <p:nvPr/>
        </p:nvSpPr>
        <p:spPr>
          <a:xfrm>
            <a:off x="838200" y="1870474"/>
            <a:ext cx="10067488" cy="2585323"/>
          </a:xfrm>
          <a:prstGeom prst="rect">
            <a:avLst/>
          </a:prstGeom>
          <a:noFill/>
        </p:spPr>
        <p:txBody>
          <a:bodyPr wrap="square">
            <a:spAutoFit/>
          </a:bodyPr>
          <a:lstStyle/>
          <a:p>
            <a:pPr marL="342900" indent="-342900" algn="just">
              <a:buFont typeface="Arial" pitchFamily="34" charset="0"/>
              <a:buChar char="•"/>
            </a:pPr>
            <a:r>
              <a:rPr lang="en-US" dirty="0">
                <a:latin typeface="Times New Roman" panose="02020603050405020304" pitchFamily="18" charset="0"/>
                <a:cs typeface="Times New Roman" panose="02020603050405020304" pitchFamily="18" charset="0"/>
              </a:rPr>
              <a:t>K. He, X. Zhang, S. </a:t>
            </a:r>
            <a:r>
              <a:rPr lang="en-US" dirty="0" err="1">
                <a:latin typeface="Times New Roman" panose="02020603050405020304" pitchFamily="18" charset="0"/>
                <a:cs typeface="Times New Roman" panose="02020603050405020304" pitchFamily="18" charset="0"/>
              </a:rPr>
              <a:t>Ren</a:t>
            </a:r>
            <a:r>
              <a:rPr lang="en-US" dirty="0">
                <a:latin typeface="Times New Roman" panose="02020603050405020304" pitchFamily="18" charset="0"/>
                <a:cs typeface="Times New Roman" panose="02020603050405020304" pitchFamily="18" charset="0"/>
              </a:rPr>
              <a:t> and J. Sun. Deep residual learning for image recognition. Proceedings of the IEEE Conference on Computer Vision and Pattern Recognition. 2016: 770-778. </a:t>
            </a:r>
          </a:p>
          <a:p>
            <a:pPr marL="342900" indent="-342900" algn="just">
              <a:buFont typeface="Arial" pitchFamily="34" charset="0"/>
              <a:buChar char="•"/>
            </a:pPr>
            <a:r>
              <a:rPr lang="en-US" dirty="0"/>
              <a: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Ren</a:t>
            </a:r>
            <a:r>
              <a:rPr lang="en-US" dirty="0">
                <a:latin typeface="Times New Roman" panose="02020603050405020304" pitchFamily="18" charset="0"/>
                <a:cs typeface="Times New Roman" panose="02020603050405020304" pitchFamily="18" charset="0"/>
              </a:rPr>
              <a:t>, K. He, R. </a:t>
            </a:r>
            <a:r>
              <a:rPr lang="en-US" dirty="0" err="1">
                <a:latin typeface="Times New Roman" panose="02020603050405020304" pitchFamily="18" charset="0"/>
                <a:cs typeface="Times New Roman" panose="02020603050405020304" pitchFamily="18" charset="0"/>
              </a:rPr>
              <a:t>Girshick</a:t>
            </a:r>
            <a:r>
              <a:rPr lang="en-US" dirty="0">
                <a:latin typeface="Times New Roman" panose="02020603050405020304" pitchFamily="18" charset="0"/>
                <a:cs typeface="Times New Roman" panose="02020603050405020304" pitchFamily="18" charset="0"/>
              </a:rPr>
              <a:t>, and J. Sun. 2016. Faster R-CNN: Towards Real-Time Object Detection with Region Proposal Networks. IEEE transactions on Pattern Analysis and Machine </a:t>
            </a:r>
            <a:r>
              <a:rPr lang="en-US" dirty="0" err="1">
                <a:latin typeface="Times New Roman" panose="02020603050405020304" pitchFamily="18" charset="0"/>
                <a:cs typeface="Times New Roman" panose="02020603050405020304" pitchFamily="18" charset="0"/>
              </a:rPr>
              <a:t>Intelegence</a:t>
            </a:r>
            <a:r>
              <a:rPr lang="en-US" dirty="0">
                <a:latin typeface="Times New Roman" panose="02020603050405020304" pitchFamily="18" charset="0"/>
                <a:cs typeface="Times New Roman" panose="02020603050405020304" pitchFamily="18" charset="0"/>
              </a:rPr>
              <a:t>. pp. </a:t>
            </a:r>
          </a:p>
          <a:p>
            <a:pPr marL="342900" indent="-342900" algn="just">
              <a:buFont typeface="Arial" pitchFamily="34" charset="0"/>
              <a:buChar char="•"/>
            </a:pPr>
            <a:r>
              <a:rPr lang="en-IN" dirty="0">
                <a:latin typeface="Times New Roman" panose="02020603050405020304" pitchFamily="18" charset="0"/>
                <a:cs typeface="Times New Roman" panose="02020603050405020304" pitchFamily="18" charset="0"/>
              </a:rPr>
              <a:t>Y. Gong, L. Wang, R. </a:t>
            </a:r>
            <a:r>
              <a:rPr lang="en-IN" dirty="0" err="1">
                <a:latin typeface="Times New Roman" panose="02020603050405020304" pitchFamily="18" charset="0"/>
                <a:cs typeface="Times New Roman" panose="02020603050405020304" pitchFamily="18" charset="0"/>
              </a:rPr>
              <a:t>Guo</a:t>
            </a:r>
            <a:r>
              <a:rPr lang="en-IN" dirty="0">
                <a:latin typeface="Times New Roman" panose="02020603050405020304" pitchFamily="18" charset="0"/>
                <a:cs typeface="Times New Roman" panose="02020603050405020304" pitchFamily="18" charset="0"/>
              </a:rPr>
              <a:t> and S. </a:t>
            </a:r>
            <a:r>
              <a:rPr lang="en-IN" dirty="0" err="1">
                <a:latin typeface="Times New Roman" panose="02020603050405020304" pitchFamily="18" charset="0"/>
                <a:cs typeface="Times New Roman" panose="02020603050405020304" pitchFamily="18" charset="0"/>
              </a:rPr>
              <a:t>Lazebnik</a:t>
            </a:r>
            <a:r>
              <a:rPr lang="en-IN" dirty="0">
                <a:latin typeface="Times New Roman" panose="02020603050405020304" pitchFamily="18" charset="0"/>
                <a:cs typeface="Times New Roman" panose="02020603050405020304" pitchFamily="18" charset="0"/>
              </a:rPr>
              <a:t>. Multi-scale order less pooling of deep convolutional activation features. European conference on computer vision. Springer International Publishing, 2014</a:t>
            </a:r>
          </a:p>
          <a:p>
            <a:pPr marL="342900" indent="-342900" algn="just">
              <a:buFont typeface="Arial" pitchFamily="34" charset="0"/>
              <a:buChar char="•"/>
            </a:pPr>
            <a:r>
              <a:rPr lang="en-IN" dirty="0">
                <a:latin typeface="Times New Roman" panose="02020603050405020304" pitchFamily="18" charset="0"/>
                <a:cs typeface="Times New Roman" panose="02020603050405020304" pitchFamily="18" charset="0"/>
              </a:rPr>
              <a:t>G. -Z. Mao, Y. -L. Wu, M. -K. </a:t>
            </a:r>
            <a:r>
              <a:rPr lang="en-IN" dirty="0" err="1">
                <a:latin typeface="Times New Roman" panose="02020603050405020304" pitchFamily="18" charset="0"/>
                <a:cs typeface="Times New Roman" panose="02020603050405020304" pitchFamily="18" charset="0"/>
              </a:rPr>
              <a:t>Hor</a:t>
            </a:r>
            <a:r>
              <a:rPr lang="en-IN" dirty="0">
                <a:latin typeface="Times New Roman" panose="02020603050405020304" pitchFamily="18" charset="0"/>
                <a:cs typeface="Times New Roman" panose="02020603050405020304" pitchFamily="18" charset="0"/>
              </a:rPr>
              <a:t> and C. -Y. Tang, "Real-Time Hand Detection and Tracking against Complex Background," 2009 Fifth International Conference on Intelligent Information Hiding and Multimedia Signal Processing, Kyoto, Japan, 2009, pp. 905-908,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10.1109/IIH-MSP.2009.133</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2BFA79B7-CF57-6733-DAB9-47B360AB451C}"/>
              </a:ext>
            </a:extLst>
          </p:cNvPr>
          <p:cNvPicPr>
            <a:picLocks noChangeAspect="1"/>
          </p:cNvPicPr>
          <p:nvPr/>
        </p:nvPicPr>
        <p:blipFill>
          <a:blip r:embed="rId2"/>
          <a:stretch>
            <a:fillRect/>
          </a:stretch>
        </p:blipFill>
        <p:spPr>
          <a:xfrm>
            <a:off x="9974510" y="136525"/>
            <a:ext cx="2217490" cy="809084"/>
          </a:xfrm>
          <a:prstGeom prst="rect">
            <a:avLst/>
          </a:prstGeom>
        </p:spPr>
      </p:pic>
      <p:sp>
        <p:nvSpPr>
          <p:cNvPr id="5" name="Date Placeholder 4">
            <a:extLst>
              <a:ext uri="{FF2B5EF4-FFF2-40B4-BE49-F238E27FC236}">
                <a16:creationId xmlns:a16="http://schemas.microsoft.com/office/drawing/2014/main" xmlns="" id="{648AE77E-5691-1F0D-9EEB-D4D2BA2FA262}"/>
              </a:ext>
            </a:extLst>
          </p:cNvPr>
          <p:cNvSpPr>
            <a:spLocks noGrp="1"/>
          </p:cNvSpPr>
          <p:nvPr>
            <p:ph type="dt" sz="half" idx="10"/>
          </p:nvPr>
        </p:nvSpPr>
        <p:spPr/>
        <p:txBody>
          <a:bodyPr/>
          <a:lstStyle/>
          <a:p>
            <a:fld id="{78485FF7-E593-466D-B620-42C410E1EACD}" type="datetime4">
              <a:rPr lang="en-IN" sz="1800">
                <a:solidFill>
                  <a:schemeClr val="tx1"/>
                </a:solidFill>
                <a:latin typeface="Times New Roman" panose="02020603050405020304" pitchFamily="18" charset="0"/>
                <a:cs typeface="Times New Roman" panose="02020603050405020304" pitchFamily="18" charset="0"/>
              </a:rPr>
              <a:t>13 February 2023</a:t>
            </a:fld>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19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2013 - 2022"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2375</TotalTime>
  <Words>1761</Words>
  <Application>Microsoft Office PowerPoint</Application>
  <PresentationFormat>Custom</PresentationFormat>
  <Paragraphs>191</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Index </vt:lpstr>
      <vt:lpstr>Index </vt:lpstr>
      <vt:lpstr>Abstract </vt:lpstr>
      <vt:lpstr>Literature Survey</vt:lpstr>
      <vt:lpstr>Literature Survey</vt:lpstr>
      <vt:lpstr>Problem Statement </vt:lpstr>
      <vt:lpstr>Objectives</vt:lpstr>
      <vt:lpstr>Novelty </vt:lpstr>
      <vt:lpstr>System/Architecture Diagram</vt:lpstr>
      <vt:lpstr>Methodology</vt:lpstr>
      <vt:lpstr>Requirements and Proposed Budget</vt:lpstr>
      <vt:lpstr>Research Progress </vt:lpstr>
      <vt:lpstr>Results</vt:lpstr>
      <vt:lpstr>Application</vt:lpstr>
      <vt:lpstr>Future Work</vt:lpstr>
      <vt:lpstr>References</vt:lpstr>
      <vt:lpstr>References</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Review- 1</dc:title>
  <dc:creator>baddam koti reddy</dc:creator>
  <cp:lastModifiedBy>WoW</cp:lastModifiedBy>
  <cp:revision>5</cp:revision>
  <dcterms:created xsi:type="dcterms:W3CDTF">2023-01-31T02:59:40Z</dcterms:created>
  <dcterms:modified xsi:type="dcterms:W3CDTF">2023-02-12T18:38:04Z</dcterms:modified>
</cp:coreProperties>
</file>